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63" r:id="rId4"/>
    <p:sldId id="269" r:id="rId5"/>
    <p:sldId id="262" r:id="rId6"/>
    <p:sldId id="260" r:id="rId7"/>
    <p:sldId id="270" r:id="rId8"/>
    <p:sldId id="276" r:id="rId9"/>
    <p:sldId id="277" r:id="rId10"/>
    <p:sldId id="272" r:id="rId11"/>
    <p:sldId id="273" r:id="rId12"/>
    <p:sldId id="274" r:id="rId13"/>
    <p:sldId id="275" r:id="rId14"/>
    <p:sldId id="257" r:id="rId15"/>
    <p:sldId id="278" r:id="rId16"/>
    <p:sldId id="279" r:id="rId1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5380" autoAdjust="0"/>
  </p:normalViewPr>
  <p:slideViewPr>
    <p:cSldViewPr snapToGrid="0">
      <p:cViewPr varScale="1">
        <p:scale>
          <a:sx n="61" d="100"/>
          <a:sy n="61" d="100"/>
        </p:scale>
        <p:origin x="5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0A84F4-9262-440B-B508-FF2667FCA3B7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7970CCC7-B237-4DE9-98AB-ECC004EA8C82}">
      <dgm:prSet phldrT="[Texto]" phldr="0" custT="1"/>
      <dgm:spPr>
        <a:solidFill>
          <a:srgbClr val="000000"/>
        </a:solidFill>
      </dgm:spPr>
      <dgm:t>
        <a:bodyPr/>
        <a:lstStyle/>
        <a:p>
          <a:r>
            <a:rPr lang="es-AR" sz="2000" b="0" dirty="0">
              <a:latin typeface="Berlin Sans FB" panose="020E0602020502020306" pitchFamily="34" charset="0"/>
            </a:rPr>
            <a:t>Preprocesamiento</a:t>
          </a:r>
        </a:p>
      </dgm:t>
    </dgm:pt>
    <dgm:pt modelId="{A02BAD1C-D112-4457-AC67-C4584C32E02E}" type="parTrans" cxnId="{1D131993-D237-418F-B6B5-70CA5B124C7C}">
      <dgm:prSet/>
      <dgm:spPr/>
      <dgm:t>
        <a:bodyPr/>
        <a:lstStyle/>
        <a:p>
          <a:endParaRPr lang="es-AR"/>
        </a:p>
      </dgm:t>
    </dgm:pt>
    <dgm:pt modelId="{0B145C3F-4991-491E-8EAE-3E14D8B24D16}" type="sibTrans" cxnId="{1D131993-D237-418F-B6B5-70CA5B124C7C}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endParaRPr lang="es-AR"/>
        </a:p>
      </dgm:t>
    </dgm:pt>
    <dgm:pt modelId="{5F240D7F-24AC-4247-B7DB-939D0AF05C3B}">
      <dgm:prSet phldrT="[Texto]"/>
      <dgm:spPr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r>
            <a:rPr lang="es-AR" b="0" dirty="0">
              <a:latin typeface="+mn-lt"/>
            </a:rPr>
            <a:t>análisis de cobertura</a:t>
          </a:r>
        </a:p>
      </dgm:t>
    </dgm:pt>
    <dgm:pt modelId="{75868CAE-E158-4130-9E47-DA8CDE5BA788}" type="parTrans" cxnId="{C4077831-CB07-4356-9B83-1441A380CB1D}">
      <dgm:prSet/>
      <dgm:spPr/>
      <dgm:t>
        <a:bodyPr/>
        <a:lstStyle/>
        <a:p>
          <a:endParaRPr lang="es-AR"/>
        </a:p>
      </dgm:t>
    </dgm:pt>
    <dgm:pt modelId="{E777676E-443C-46AD-8575-4B973F55577A}" type="sibTrans" cxnId="{C4077831-CB07-4356-9B83-1441A380CB1D}">
      <dgm:prSet/>
      <dgm:spPr/>
      <dgm:t>
        <a:bodyPr/>
        <a:lstStyle/>
        <a:p>
          <a:endParaRPr lang="es-AR"/>
        </a:p>
      </dgm:t>
    </dgm:pt>
    <dgm:pt modelId="{29B42DEA-C9A0-48F3-9734-1CBA40F6C9BB}">
      <dgm:prSet phldrT="[Texto]" phldr="0" custT="1"/>
      <dgm:spPr>
        <a:solidFill>
          <a:srgbClr val="000000"/>
        </a:solidFill>
      </dgm:spPr>
      <dgm:t>
        <a:bodyPr/>
        <a:lstStyle/>
        <a:p>
          <a:r>
            <a:rPr lang="es-AR" sz="2000" b="0" dirty="0" err="1">
              <a:latin typeface="Berlin Sans FB" panose="020E0602020502020306" pitchFamily="34" charset="0"/>
            </a:rPr>
            <a:t>Similaridad</a:t>
          </a:r>
          <a:r>
            <a:rPr lang="es-AR" sz="2000" b="0" dirty="0">
              <a:latin typeface="Berlin Sans FB" panose="020E0602020502020306" pitchFamily="34" charset="0"/>
            </a:rPr>
            <a:t> y agrupamiento</a:t>
          </a:r>
        </a:p>
      </dgm:t>
    </dgm:pt>
    <dgm:pt modelId="{FADBFFAE-577B-4C17-8DE0-2153A7A3AAE4}" type="parTrans" cxnId="{B67A18A9-6D12-4291-8DAA-8CFAAFCFC7DD}">
      <dgm:prSet/>
      <dgm:spPr/>
      <dgm:t>
        <a:bodyPr/>
        <a:lstStyle/>
        <a:p>
          <a:endParaRPr lang="es-AR"/>
        </a:p>
      </dgm:t>
    </dgm:pt>
    <dgm:pt modelId="{9FAA44D0-A915-4DD8-88BE-2F4E0C5C77BD}" type="sibTrans" cxnId="{B67A18A9-6D12-4291-8DAA-8CFAAFCFC7DD}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endParaRPr lang="es-AR"/>
        </a:p>
      </dgm:t>
    </dgm:pt>
    <dgm:pt modelId="{A06E69EA-6814-4DCD-A829-9263A2152945}">
      <dgm:prSet phldrT="[Texto]"/>
      <dgm:spPr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r>
            <a:rPr lang="es-AR" dirty="0"/>
            <a:t>Correlación cruzada </a:t>
          </a:r>
        </a:p>
      </dgm:t>
    </dgm:pt>
    <dgm:pt modelId="{F564D5AA-4FC8-435A-AE30-DB4BD5BB9290}" type="parTrans" cxnId="{E62D2314-5021-4658-B27A-CB24183254C7}">
      <dgm:prSet/>
      <dgm:spPr/>
      <dgm:t>
        <a:bodyPr/>
        <a:lstStyle/>
        <a:p>
          <a:endParaRPr lang="es-AR"/>
        </a:p>
      </dgm:t>
    </dgm:pt>
    <dgm:pt modelId="{2F682E54-708A-4113-A6E1-578D321E101A}" type="sibTrans" cxnId="{E62D2314-5021-4658-B27A-CB24183254C7}">
      <dgm:prSet/>
      <dgm:spPr/>
      <dgm:t>
        <a:bodyPr/>
        <a:lstStyle/>
        <a:p>
          <a:endParaRPr lang="es-AR"/>
        </a:p>
      </dgm:t>
    </dgm:pt>
    <dgm:pt modelId="{70CBB702-F500-478B-80C0-3C424877D5BD}">
      <dgm:prSet phldrT="[Texto]" phldr="0" custT="1"/>
      <dgm:spPr>
        <a:solidFill>
          <a:srgbClr val="000000"/>
        </a:solidFill>
      </dgm:spPr>
      <dgm:t>
        <a:bodyPr/>
        <a:lstStyle/>
        <a:p>
          <a:r>
            <a:rPr lang="es-AR" sz="2000" b="0" dirty="0">
              <a:latin typeface="Berlin Sans FB" panose="020E0602020502020306" pitchFamily="34" charset="0"/>
            </a:rPr>
            <a:t>Forma vs. nivel</a:t>
          </a:r>
        </a:p>
      </dgm:t>
    </dgm:pt>
    <dgm:pt modelId="{2ACA4201-DA19-4D47-AF84-03D03CA80EFB}" type="parTrans" cxnId="{A26C8293-F611-4F32-B789-4B5F95FA982E}">
      <dgm:prSet/>
      <dgm:spPr/>
      <dgm:t>
        <a:bodyPr/>
        <a:lstStyle/>
        <a:p>
          <a:endParaRPr lang="es-AR"/>
        </a:p>
      </dgm:t>
    </dgm:pt>
    <dgm:pt modelId="{AFD4BB05-4600-4B7D-8EF0-5EFD6526C035}" type="sibTrans" cxnId="{A26C8293-F611-4F32-B789-4B5F95FA982E}">
      <dgm:prSet/>
      <dgm:spPr/>
      <dgm:t>
        <a:bodyPr/>
        <a:lstStyle/>
        <a:p>
          <a:endParaRPr lang="es-AR"/>
        </a:p>
      </dgm:t>
    </dgm:pt>
    <dgm:pt modelId="{635D0A26-DEDA-4985-9826-0FC43A440D5D}">
      <dgm:prSet phldrT="[Texto]"/>
      <dgm:spPr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r>
            <a:rPr lang="es-ES" dirty="0"/>
            <a:t>Cruce de cada </a:t>
          </a:r>
          <a:r>
            <a:rPr lang="es-ES" dirty="0" err="1"/>
            <a:t>cluster</a:t>
          </a:r>
          <a:r>
            <a:rPr lang="es-ES" dirty="0"/>
            <a:t> con popularidad y </a:t>
          </a:r>
          <a:r>
            <a:rPr lang="es-ES" dirty="0" err="1"/>
            <a:t>metadata</a:t>
          </a:r>
          <a:r>
            <a:rPr lang="es-ES" dirty="0"/>
            <a:t>.</a:t>
          </a:r>
          <a:endParaRPr lang="es-AR" dirty="0"/>
        </a:p>
      </dgm:t>
    </dgm:pt>
    <dgm:pt modelId="{B5BFD746-6208-4F60-9E88-6100382D88D9}" type="parTrans" cxnId="{E114168A-BFFB-4D27-BEAF-53BF8321C447}">
      <dgm:prSet/>
      <dgm:spPr/>
      <dgm:t>
        <a:bodyPr/>
        <a:lstStyle/>
        <a:p>
          <a:endParaRPr lang="es-AR"/>
        </a:p>
      </dgm:t>
    </dgm:pt>
    <dgm:pt modelId="{A07E9E4F-D887-44A3-A7B3-9BDA39EF9E67}" type="sibTrans" cxnId="{E114168A-BFFB-4D27-BEAF-53BF8321C447}">
      <dgm:prSet/>
      <dgm:spPr/>
      <dgm:t>
        <a:bodyPr/>
        <a:lstStyle/>
        <a:p>
          <a:endParaRPr lang="es-AR"/>
        </a:p>
      </dgm:t>
    </dgm:pt>
    <dgm:pt modelId="{FAE03135-48E6-4336-829F-E43690DC0427}">
      <dgm:prSet/>
      <dgm:spPr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r>
            <a:rPr lang="es-AR" b="0" dirty="0">
              <a:latin typeface="+mn-lt"/>
            </a:rPr>
            <a:t>transformación</a:t>
          </a:r>
        </a:p>
      </dgm:t>
    </dgm:pt>
    <dgm:pt modelId="{5814BE8B-CE1A-4840-87F8-BEF057B3930B}" type="parTrans" cxnId="{DE5CCE45-527A-4724-B99A-BF14F3403637}">
      <dgm:prSet/>
      <dgm:spPr/>
      <dgm:t>
        <a:bodyPr/>
        <a:lstStyle/>
        <a:p>
          <a:endParaRPr lang="es-AR"/>
        </a:p>
      </dgm:t>
    </dgm:pt>
    <dgm:pt modelId="{9E0E4661-177A-4F0E-9319-6AABB3C5EE53}" type="sibTrans" cxnId="{DE5CCE45-527A-4724-B99A-BF14F3403637}">
      <dgm:prSet/>
      <dgm:spPr/>
      <dgm:t>
        <a:bodyPr/>
        <a:lstStyle/>
        <a:p>
          <a:endParaRPr lang="es-AR"/>
        </a:p>
      </dgm:t>
    </dgm:pt>
    <dgm:pt modelId="{D9048FE6-ACF8-465E-82F9-A6F2AB5C3DA6}">
      <dgm:prSet/>
      <dgm:spPr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r>
            <a:rPr lang="es-ES" dirty="0">
              <a:latin typeface="+mn-lt"/>
            </a:rPr>
            <a:t>filtrado</a:t>
          </a:r>
          <a:endParaRPr lang="es-AR" dirty="0">
            <a:latin typeface="+mn-lt"/>
          </a:endParaRPr>
        </a:p>
      </dgm:t>
    </dgm:pt>
    <dgm:pt modelId="{15911812-3BB2-4C70-A640-DF63076FDA5E}" type="parTrans" cxnId="{0F6CC8DD-74A6-4F55-A60E-9543332D0133}">
      <dgm:prSet/>
      <dgm:spPr/>
      <dgm:t>
        <a:bodyPr/>
        <a:lstStyle/>
        <a:p>
          <a:endParaRPr lang="es-AR"/>
        </a:p>
      </dgm:t>
    </dgm:pt>
    <dgm:pt modelId="{F99B3C8F-28F3-4C60-9B95-E7335CD29346}" type="sibTrans" cxnId="{0F6CC8DD-74A6-4F55-A60E-9543332D0133}">
      <dgm:prSet/>
      <dgm:spPr/>
      <dgm:t>
        <a:bodyPr/>
        <a:lstStyle/>
        <a:p>
          <a:endParaRPr lang="es-AR"/>
        </a:p>
      </dgm:t>
    </dgm:pt>
    <dgm:pt modelId="{3A586614-83BD-4F82-A9B4-8337A2A2CFDF}">
      <dgm:prSet/>
      <dgm:spPr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r>
            <a:rPr lang="es-AR" dirty="0" err="1"/>
            <a:t>Clustering</a:t>
          </a:r>
          <a:r>
            <a:rPr lang="es-AR" dirty="0"/>
            <a:t> jerárquico? Otro?</a:t>
          </a:r>
        </a:p>
      </dgm:t>
    </dgm:pt>
    <dgm:pt modelId="{444115E4-2EF5-4B7E-807E-4ABF18251940}" type="parTrans" cxnId="{2DCCE508-6E6C-43B4-81DC-4CD2451CE249}">
      <dgm:prSet/>
      <dgm:spPr/>
      <dgm:t>
        <a:bodyPr/>
        <a:lstStyle/>
        <a:p>
          <a:endParaRPr lang="es-AR"/>
        </a:p>
      </dgm:t>
    </dgm:pt>
    <dgm:pt modelId="{F66A6C3D-E0B4-4E24-BA16-72D2E2EE2796}" type="sibTrans" cxnId="{2DCCE508-6E6C-43B4-81DC-4CD2451CE249}">
      <dgm:prSet/>
      <dgm:spPr/>
      <dgm:t>
        <a:bodyPr/>
        <a:lstStyle/>
        <a:p>
          <a:endParaRPr lang="es-AR"/>
        </a:p>
      </dgm:t>
    </dgm:pt>
    <dgm:pt modelId="{FCB83ED6-01BA-41CD-B229-92016DC5E640}">
      <dgm:prSet/>
      <dgm:spPr>
        <a:ln>
          <a:solidFill>
            <a:schemeClr val="tx1">
              <a:lumMod val="65000"/>
              <a:lumOff val="35000"/>
            </a:schemeClr>
          </a:solidFill>
        </a:ln>
      </dgm:spPr>
      <dgm:t>
        <a:bodyPr/>
        <a:lstStyle/>
        <a:p>
          <a:r>
            <a:rPr lang="es-ES" dirty="0">
              <a:latin typeface="+mn-lt"/>
            </a:rPr>
            <a:t>muestras perdidas</a:t>
          </a:r>
          <a:endParaRPr lang="es-AR" b="0" dirty="0">
            <a:latin typeface="+mn-lt"/>
          </a:endParaRPr>
        </a:p>
      </dgm:t>
    </dgm:pt>
    <dgm:pt modelId="{DB683741-7F78-40BA-8CCA-EC81645AFF1F}" type="parTrans" cxnId="{39DC4156-1BB4-4E50-9CE2-00967DE0C713}">
      <dgm:prSet/>
      <dgm:spPr/>
      <dgm:t>
        <a:bodyPr/>
        <a:lstStyle/>
        <a:p>
          <a:endParaRPr lang="es-AR"/>
        </a:p>
      </dgm:t>
    </dgm:pt>
    <dgm:pt modelId="{325CED70-D8CB-4677-9281-80BCC4B4ADE1}" type="sibTrans" cxnId="{39DC4156-1BB4-4E50-9CE2-00967DE0C713}">
      <dgm:prSet/>
      <dgm:spPr/>
      <dgm:t>
        <a:bodyPr/>
        <a:lstStyle/>
        <a:p>
          <a:endParaRPr lang="es-AR"/>
        </a:p>
      </dgm:t>
    </dgm:pt>
    <dgm:pt modelId="{CD0760D4-8B78-46AC-BFB6-82785D59F975}" type="pres">
      <dgm:prSet presAssocID="{130A84F4-9262-440B-B508-FF2667FCA3B7}" presName="linearFlow" presStyleCnt="0">
        <dgm:presLayoutVars>
          <dgm:dir/>
          <dgm:animLvl val="lvl"/>
          <dgm:resizeHandles val="exact"/>
        </dgm:presLayoutVars>
      </dgm:prSet>
      <dgm:spPr/>
    </dgm:pt>
    <dgm:pt modelId="{C8CCDFC3-E72C-4FE1-92A7-ADEFBC18EF41}" type="pres">
      <dgm:prSet presAssocID="{7970CCC7-B237-4DE9-98AB-ECC004EA8C82}" presName="composite" presStyleCnt="0"/>
      <dgm:spPr/>
    </dgm:pt>
    <dgm:pt modelId="{C412A1D9-A37C-429E-BCDF-4CD893E97446}" type="pres">
      <dgm:prSet presAssocID="{7970CCC7-B237-4DE9-98AB-ECC004EA8C82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C2BBD45-466B-4CF4-8BDC-2BF8865A62D4}" type="pres">
      <dgm:prSet presAssocID="{7970CCC7-B237-4DE9-98AB-ECC004EA8C82}" presName="parSh" presStyleLbl="node1" presStyleIdx="0" presStyleCnt="3" custScaleX="112768"/>
      <dgm:spPr/>
    </dgm:pt>
    <dgm:pt modelId="{411D4FE7-2B87-48EC-B520-E3FA456F8A3F}" type="pres">
      <dgm:prSet presAssocID="{7970CCC7-B237-4DE9-98AB-ECC004EA8C82}" presName="desTx" presStyleLbl="fgAcc1" presStyleIdx="0" presStyleCnt="3" custLinFactNeighborY="13598">
        <dgm:presLayoutVars>
          <dgm:bulletEnabled val="1"/>
        </dgm:presLayoutVars>
      </dgm:prSet>
      <dgm:spPr/>
    </dgm:pt>
    <dgm:pt modelId="{122A98A8-6EDF-4153-93F6-54998DE3E2A8}" type="pres">
      <dgm:prSet presAssocID="{0B145C3F-4991-491E-8EAE-3E14D8B24D16}" presName="sibTrans" presStyleLbl="sibTrans2D1" presStyleIdx="0" presStyleCnt="2"/>
      <dgm:spPr/>
    </dgm:pt>
    <dgm:pt modelId="{FA785603-056C-49B2-9EC3-85F540CFA7C1}" type="pres">
      <dgm:prSet presAssocID="{0B145C3F-4991-491E-8EAE-3E14D8B24D16}" presName="connTx" presStyleLbl="sibTrans2D1" presStyleIdx="0" presStyleCnt="2"/>
      <dgm:spPr/>
    </dgm:pt>
    <dgm:pt modelId="{5AADE5AB-4318-430E-9B5E-1F245D05233F}" type="pres">
      <dgm:prSet presAssocID="{29B42DEA-C9A0-48F3-9734-1CBA40F6C9BB}" presName="composite" presStyleCnt="0"/>
      <dgm:spPr/>
    </dgm:pt>
    <dgm:pt modelId="{857836D0-802C-462C-9D8B-CC6C67B5CEF6}" type="pres">
      <dgm:prSet presAssocID="{29B42DEA-C9A0-48F3-9734-1CBA40F6C9BB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1381A8C-4B2E-4F0E-80B9-E37152DD3BFB}" type="pres">
      <dgm:prSet presAssocID="{29B42DEA-C9A0-48F3-9734-1CBA40F6C9BB}" presName="parSh" presStyleLbl="node1" presStyleIdx="1" presStyleCnt="3" custScaleX="112768"/>
      <dgm:spPr/>
    </dgm:pt>
    <dgm:pt modelId="{1F9972E1-C84B-403D-B156-248D33767862}" type="pres">
      <dgm:prSet presAssocID="{29B42DEA-C9A0-48F3-9734-1CBA40F6C9BB}" presName="desTx" presStyleLbl="fgAcc1" presStyleIdx="1" presStyleCnt="3" custLinFactNeighborY="13598">
        <dgm:presLayoutVars>
          <dgm:bulletEnabled val="1"/>
        </dgm:presLayoutVars>
      </dgm:prSet>
      <dgm:spPr/>
    </dgm:pt>
    <dgm:pt modelId="{CEB6B4A9-269E-4168-B6B8-F7D4E18DE639}" type="pres">
      <dgm:prSet presAssocID="{9FAA44D0-A915-4DD8-88BE-2F4E0C5C77BD}" presName="sibTrans" presStyleLbl="sibTrans2D1" presStyleIdx="1" presStyleCnt="2"/>
      <dgm:spPr/>
    </dgm:pt>
    <dgm:pt modelId="{A1938E41-D7C8-4B21-90FF-664E6826DEBB}" type="pres">
      <dgm:prSet presAssocID="{9FAA44D0-A915-4DD8-88BE-2F4E0C5C77BD}" presName="connTx" presStyleLbl="sibTrans2D1" presStyleIdx="1" presStyleCnt="2"/>
      <dgm:spPr/>
    </dgm:pt>
    <dgm:pt modelId="{F9B6E0EB-7CDB-47F8-A4E1-58542D70EEE1}" type="pres">
      <dgm:prSet presAssocID="{70CBB702-F500-478B-80C0-3C424877D5BD}" presName="composite" presStyleCnt="0"/>
      <dgm:spPr/>
    </dgm:pt>
    <dgm:pt modelId="{2581AB9C-A9B0-4334-86CA-78A6D2E5076B}" type="pres">
      <dgm:prSet presAssocID="{70CBB702-F500-478B-80C0-3C424877D5BD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2FF9BBB-04C0-4368-8FF3-D7992DCD8AAD}" type="pres">
      <dgm:prSet presAssocID="{70CBB702-F500-478B-80C0-3C424877D5BD}" presName="parSh" presStyleLbl="node1" presStyleIdx="2" presStyleCnt="3" custScaleX="112768"/>
      <dgm:spPr/>
    </dgm:pt>
    <dgm:pt modelId="{6DD3BBB9-B555-49FE-B3C1-ABFB7D52CB2E}" type="pres">
      <dgm:prSet presAssocID="{70CBB702-F500-478B-80C0-3C424877D5BD}" presName="desTx" presStyleLbl="fgAcc1" presStyleIdx="2" presStyleCnt="3" custLinFactNeighborY="13598">
        <dgm:presLayoutVars>
          <dgm:bulletEnabled val="1"/>
        </dgm:presLayoutVars>
      </dgm:prSet>
      <dgm:spPr/>
    </dgm:pt>
  </dgm:ptLst>
  <dgm:cxnLst>
    <dgm:cxn modelId="{1FB91A04-8985-48AB-B45A-75C3D8FABFA0}" type="presOf" srcId="{A06E69EA-6814-4DCD-A829-9263A2152945}" destId="{1F9972E1-C84B-403D-B156-248D33767862}" srcOrd="0" destOrd="0" presId="urn:microsoft.com/office/officeart/2005/8/layout/process3"/>
    <dgm:cxn modelId="{2DCCE508-6E6C-43B4-81DC-4CD2451CE249}" srcId="{29B42DEA-C9A0-48F3-9734-1CBA40F6C9BB}" destId="{3A586614-83BD-4F82-A9B4-8337A2A2CFDF}" srcOrd="1" destOrd="0" parTransId="{444115E4-2EF5-4B7E-807E-4ABF18251940}" sibTransId="{F66A6C3D-E0B4-4E24-BA16-72D2E2EE2796}"/>
    <dgm:cxn modelId="{4E8D7A13-21DD-41BC-8878-88A1ED5097E9}" type="presOf" srcId="{3A586614-83BD-4F82-A9B4-8337A2A2CFDF}" destId="{1F9972E1-C84B-403D-B156-248D33767862}" srcOrd="0" destOrd="1" presId="urn:microsoft.com/office/officeart/2005/8/layout/process3"/>
    <dgm:cxn modelId="{E62D2314-5021-4658-B27A-CB24183254C7}" srcId="{29B42DEA-C9A0-48F3-9734-1CBA40F6C9BB}" destId="{A06E69EA-6814-4DCD-A829-9263A2152945}" srcOrd="0" destOrd="0" parTransId="{F564D5AA-4FC8-435A-AE30-DB4BD5BB9290}" sibTransId="{2F682E54-708A-4113-A6E1-578D321E101A}"/>
    <dgm:cxn modelId="{3765271B-DEDC-4D5F-973E-FDF2D83A7E8D}" type="presOf" srcId="{7970CCC7-B237-4DE9-98AB-ECC004EA8C82}" destId="{C412A1D9-A37C-429E-BCDF-4CD893E97446}" srcOrd="0" destOrd="0" presId="urn:microsoft.com/office/officeart/2005/8/layout/process3"/>
    <dgm:cxn modelId="{53A20A27-7820-4B7C-92A8-1F00936DC00B}" type="presOf" srcId="{5F240D7F-24AC-4247-B7DB-939D0AF05C3B}" destId="{411D4FE7-2B87-48EC-B520-E3FA456F8A3F}" srcOrd="0" destOrd="0" presId="urn:microsoft.com/office/officeart/2005/8/layout/process3"/>
    <dgm:cxn modelId="{39E51928-CFE7-4609-91F7-FA2A1C8E7D3C}" type="presOf" srcId="{130A84F4-9262-440B-B508-FF2667FCA3B7}" destId="{CD0760D4-8B78-46AC-BFB6-82785D59F975}" srcOrd="0" destOrd="0" presId="urn:microsoft.com/office/officeart/2005/8/layout/process3"/>
    <dgm:cxn modelId="{C4077831-CB07-4356-9B83-1441A380CB1D}" srcId="{7970CCC7-B237-4DE9-98AB-ECC004EA8C82}" destId="{5F240D7F-24AC-4247-B7DB-939D0AF05C3B}" srcOrd="0" destOrd="0" parTransId="{75868CAE-E158-4130-9E47-DA8CDE5BA788}" sibTransId="{E777676E-443C-46AD-8575-4B973F55577A}"/>
    <dgm:cxn modelId="{468AAB5F-DEAA-4BCC-8554-88FA4397AD46}" type="presOf" srcId="{29B42DEA-C9A0-48F3-9734-1CBA40F6C9BB}" destId="{857836D0-802C-462C-9D8B-CC6C67B5CEF6}" srcOrd="0" destOrd="0" presId="urn:microsoft.com/office/officeart/2005/8/layout/process3"/>
    <dgm:cxn modelId="{860D9063-A05D-46B3-BDC4-6F141C4BE980}" type="presOf" srcId="{29B42DEA-C9A0-48F3-9734-1CBA40F6C9BB}" destId="{E1381A8C-4B2E-4F0E-80B9-E37152DD3BFB}" srcOrd="1" destOrd="0" presId="urn:microsoft.com/office/officeart/2005/8/layout/process3"/>
    <dgm:cxn modelId="{DE5CCE45-527A-4724-B99A-BF14F3403637}" srcId="{7970CCC7-B237-4DE9-98AB-ECC004EA8C82}" destId="{FAE03135-48E6-4336-829F-E43690DC0427}" srcOrd="1" destOrd="0" parTransId="{5814BE8B-CE1A-4840-87F8-BEF057B3930B}" sibTransId="{9E0E4661-177A-4F0E-9319-6AABB3C5EE53}"/>
    <dgm:cxn modelId="{39DC4156-1BB4-4E50-9CE2-00967DE0C713}" srcId="{7970CCC7-B237-4DE9-98AB-ECC004EA8C82}" destId="{FCB83ED6-01BA-41CD-B229-92016DC5E640}" srcOrd="2" destOrd="0" parTransId="{DB683741-7F78-40BA-8CCA-EC81645AFF1F}" sibTransId="{325CED70-D8CB-4677-9281-80BCC4B4ADE1}"/>
    <dgm:cxn modelId="{3B70778B-D397-4BB7-851B-C79E72C65581}" type="presOf" srcId="{D9048FE6-ACF8-465E-82F9-A6F2AB5C3DA6}" destId="{411D4FE7-2B87-48EC-B520-E3FA456F8A3F}" srcOrd="0" destOrd="3" presId="urn:microsoft.com/office/officeart/2005/8/layout/process3"/>
    <dgm:cxn modelId="{B9C86890-E866-439C-9775-3D9B9A1D8496}" type="presOf" srcId="{7970CCC7-B237-4DE9-98AB-ECC004EA8C82}" destId="{3C2BBD45-466B-4CF4-8BDC-2BF8865A62D4}" srcOrd="1" destOrd="0" presId="urn:microsoft.com/office/officeart/2005/8/layout/process3"/>
    <dgm:cxn modelId="{1D131993-D237-418F-B6B5-70CA5B124C7C}" srcId="{130A84F4-9262-440B-B508-FF2667FCA3B7}" destId="{7970CCC7-B237-4DE9-98AB-ECC004EA8C82}" srcOrd="0" destOrd="0" parTransId="{A02BAD1C-D112-4457-AC67-C4584C32E02E}" sibTransId="{0B145C3F-4991-491E-8EAE-3E14D8B24D16}"/>
    <dgm:cxn modelId="{A26C8293-F611-4F32-B789-4B5F95FA982E}" srcId="{130A84F4-9262-440B-B508-FF2667FCA3B7}" destId="{70CBB702-F500-478B-80C0-3C424877D5BD}" srcOrd="2" destOrd="0" parTransId="{2ACA4201-DA19-4D47-AF84-03D03CA80EFB}" sibTransId="{AFD4BB05-4600-4B7D-8EF0-5EFD6526C035}"/>
    <dgm:cxn modelId="{E114168A-BFFB-4D27-BEAF-53BF8321C447}" srcId="{70CBB702-F500-478B-80C0-3C424877D5BD}" destId="{635D0A26-DEDA-4985-9826-0FC43A440D5D}" srcOrd="0" destOrd="0" parTransId="{B5BFD746-6208-4F60-9E88-6100382D88D9}" sibTransId="{A07E9E4F-D887-44A3-A7B3-9BDA39EF9E67}"/>
    <dgm:cxn modelId="{9478959A-7CAB-4350-A409-FB4F1297CEA2}" type="presOf" srcId="{70CBB702-F500-478B-80C0-3C424877D5BD}" destId="{2581AB9C-A9B0-4334-86CA-78A6D2E5076B}" srcOrd="0" destOrd="0" presId="urn:microsoft.com/office/officeart/2005/8/layout/process3"/>
    <dgm:cxn modelId="{B67A18A9-6D12-4291-8DAA-8CFAAFCFC7DD}" srcId="{130A84F4-9262-440B-B508-FF2667FCA3B7}" destId="{29B42DEA-C9A0-48F3-9734-1CBA40F6C9BB}" srcOrd="1" destOrd="0" parTransId="{FADBFFAE-577B-4C17-8DE0-2153A7A3AAE4}" sibTransId="{9FAA44D0-A915-4DD8-88BE-2F4E0C5C77BD}"/>
    <dgm:cxn modelId="{DE2AB3AE-C534-400C-8546-6A9B51CC8E56}" type="presOf" srcId="{70CBB702-F500-478B-80C0-3C424877D5BD}" destId="{12FF9BBB-04C0-4368-8FF3-D7992DCD8AAD}" srcOrd="1" destOrd="0" presId="urn:microsoft.com/office/officeart/2005/8/layout/process3"/>
    <dgm:cxn modelId="{B9910DB0-D0B3-4640-BFC6-32FF03D7AC82}" type="presOf" srcId="{FCB83ED6-01BA-41CD-B229-92016DC5E640}" destId="{411D4FE7-2B87-48EC-B520-E3FA456F8A3F}" srcOrd="0" destOrd="2" presId="urn:microsoft.com/office/officeart/2005/8/layout/process3"/>
    <dgm:cxn modelId="{E2A036B5-6735-41C8-9F79-1523A1EC491A}" type="presOf" srcId="{0B145C3F-4991-491E-8EAE-3E14D8B24D16}" destId="{122A98A8-6EDF-4153-93F6-54998DE3E2A8}" srcOrd="0" destOrd="0" presId="urn:microsoft.com/office/officeart/2005/8/layout/process3"/>
    <dgm:cxn modelId="{AB551DB6-3A69-455C-A743-1ED66BC7867B}" type="presOf" srcId="{9FAA44D0-A915-4DD8-88BE-2F4E0C5C77BD}" destId="{A1938E41-D7C8-4B21-90FF-664E6826DEBB}" srcOrd="1" destOrd="0" presId="urn:microsoft.com/office/officeart/2005/8/layout/process3"/>
    <dgm:cxn modelId="{107027E1-2CFF-4B01-86BC-28CB78F7CBBD}" type="presOf" srcId="{FAE03135-48E6-4336-829F-E43690DC0427}" destId="{411D4FE7-2B87-48EC-B520-E3FA456F8A3F}" srcOrd="0" destOrd="1" presId="urn:microsoft.com/office/officeart/2005/8/layout/process3"/>
    <dgm:cxn modelId="{3C407FE6-5FEA-4FF1-9F76-8A9AF08A9606}" type="presOf" srcId="{0B145C3F-4991-491E-8EAE-3E14D8B24D16}" destId="{FA785603-056C-49B2-9EC3-85F540CFA7C1}" srcOrd="1" destOrd="0" presId="urn:microsoft.com/office/officeart/2005/8/layout/process3"/>
    <dgm:cxn modelId="{0DC120C7-E78C-4F45-AFB7-D07ED7601196}" type="presOf" srcId="{9FAA44D0-A915-4DD8-88BE-2F4E0C5C77BD}" destId="{CEB6B4A9-269E-4168-B6B8-F7D4E18DE639}" srcOrd="0" destOrd="0" presId="urn:microsoft.com/office/officeart/2005/8/layout/process3"/>
    <dgm:cxn modelId="{92AEB6CE-91FE-438B-8C79-1904120CAB18}" type="presOf" srcId="{635D0A26-DEDA-4985-9826-0FC43A440D5D}" destId="{6DD3BBB9-B555-49FE-B3C1-ABFB7D52CB2E}" srcOrd="0" destOrd="0" presId="urn:microsoft.com/office/officeart/2005/8/layout/process3"/>
    <dgm:cxn modelId="{0F6CC8DD-74A6-4F55-A60E-9543332D0133}" srcId="{7970CCC7-B237-4DE9-98AB-ECC004EA8C82}" destId="{D9048FE6-ACF8-465E-82F9-A6F2AB5C3DA6}" srcOrd="3" destOrd="0" parTransId="{15911812-3BB2-4C70-A640-DF63076FDA5E}" sibTransId="{F99B3C8F-28F3-4C60-9B95-E7335CD29346}"/>
    <dgm:cxn modelId="{0122C305-FC1B-4C51-8051-0B6452713692}" type="presParOf" srcId="{CD0760D4-8B78-46AC-BFB6-82785D59F975}" destId="{C8CCDFC3-E72C-4FE1-92A7-ADEFBC18EF41}" srcOrd="0" destOrd="0" presId="urn:microsoft.com/office/officeart/2005/8/layout/process3"/>
    <dgm:cxn modelId="{96FD6836-0494-4C3B-AF3E-5F161FF9AA80}" type="presParOf" srcId="{C8CCDFC3-E72C-4FE1-92A7-ADEFBC18EF41}" destId="{C412A1D9-A37C-429E-BCDF-4CD893E97446}" srcOrd="0" destOrd="0" presId="urn:microsoft.com/office/officeart/2005/8/layout/process3"/>
    <dgm:cxn modelId="{076001A7-7EAE-4997-8529-BBFB55B0ADFD}" type="presParOf" srcId="{C8CCDFC3-E72C-4FE1-92A7-ADEFBC18EF41}" destId="{3C2BBD45-466B-4CF4-8BDC-2BF8865A62D4}" srcOrd="1" destOrd="0" presId="urn:microsoft.com/office/officeart/2005/8/layout/process3"/>
    <dgm:cxn modelId="{E7BE9F81-AA7F-4354-9E49-101FC749F9FB}" type="presParOf" srcId="{C8CCDFC3-E72C-4FE1-92A7-ADEFBC18EF41}" destId="{411D4FE7-2B87-48EC-B520-E3FA456F8A3F}" srcOrd="2" destOrd="0" presId="urn:microsoft.com/office/officeart/2005/8/layout/process3"/>
    <dgm:cxn modelId="{73787FAD-71DF-411C-B0A6-4DF95F8A385C}" type="presParOf" srcId="{CD0760D4-8B78-46AC-BFB6-82785D59F975}" destId="{122A98A8-6EDF-4153-93F6-54998DE3E2A8}" srcOrd="1" destOrd="0" presId="urn:microsoft.com/office/officeart/2005/8/layout/process3"/>
    <dgm:cxn modelId="{EE5669E2-2A9E-42EC-B283-BF477E407569}" type="presParOf" srcId="{122A98A8-6EDF-4153-93F6-54998DE3E2A8}" destId="{FA785603-056C-49B2-9EC3-85F540CFA7C1}" srcOrd="0" destOrd="0" presId="urn:microsoft.com/office/officeart/2005/8/layout/process3"/>
    <dgm:cxn modelId="{3D1EE341-CA63-4469-8187-845CA8957200}" type="presParOf" srcId="{CD0760D4-8B78-46AC-BFB6-82785D59F975}" destId="{5AADE5AB-4318-430E-9B5E-1F245D05233F}" srcOrd="2" destOrd="0" presId="urn:microsoft.com/office/officeart/2005/8/layout/process3"/>
    <dgm:cxn modelId="{32C0B72C-4A4C-4751-A08E-8C5B230A0B90}" type="presParOf" srcId="{5AADE5AB-4318-430E-9B5E-1F245D05233F}" destId="{857836D0-802C-462C-9D8B-CC6C67B5CEF6}" srcOrd="0" destOrd="0" presId="urn:microsoft.com/office/officeart/2005/8/layout/process3"/>
    <dgm:cxn modelId="{DCCE9E69-6952-4993-B7AC-A9A430FFF7CC}" type="presParOf" srcId="{5AADE5AB-4318-430E-9B5E-1F245D05233F}" destId="{E1381A8C-4B2E-4F0E-80B9-E37152DD3BFB}" srcOrd="1" destOrd="0" presId="urn:microsoft.com/office/officeart/2005/8/layout/process3"/>
    <dgm:cxn modelId="{06A37255-BB28-408B-BBE1-0EE1AE5325C7}" type="presParOf" srcId="{5AADE5AB-4318-430E-9B5E-1F245D05233F}" destId="{1F9972E1-C84B-403D-B156-248D33767862}" srcOrd="2" destOrd="0" presId="urn:microsoft.com/office/officeart/2005/8/layout/process3"/>
    <dgm:cxn modelId="{271CDC6F-E193-4FC3-8409-C4451061ACD5}" type="presParOf" srcId="{CD0760D4-8B78-46AC-BFB6-82785D59F975}" destId="{CEB6B4A9-269E-4168-B6B8-F7D4E18DE639}" srcOrd="3" destOrd="0" presId="urn:microsoft.com/office/officeart/2005/8/layout/process3"/>
    <dgm:cxn modelId="{154BDC8B-B1FC-4178-9CA8-E46BB61CADB7}" type="presParOf" srcId="{CEB6B4A9-269E-4168-B6B8-F7D4E18DE639}" destId="{A1938E41-D7C8-4B21-90FF-664E6826DEBB}" srcOrd="0" destOrd="0" presId="urn:microsoft.com/office/officeart/2005/8/layout/process3"/>
    <dgm:cxn modelId="{A22FB62E-F72B-4558-8395-A6DD009E7D1B}" type="presParOf" srcId="{CD0760D4-8B78-46AC-BFB6-82785D59F975}" destId="{F9B6E0EB-7CDB-47F8-A4E1-58542D70EEE1}" srcOrd="4" destOrd="0" presId="urn:microsoft.com/office/officeart/2005/8/layout/process3"/>
    <dgm:cxn modelId="{3FAC947D-4AC2-4370-936A-15FB3BB760BC}" type="presParOf" srcId="{F9B6E0EB-7CDB-47F8-A4E1-58542D70EEE1}" destId="{2581AB9C-A9B0-4334-86CA-78A6D2E5076B}" srcOrd="0" destOrd="0" presId="urn:microsoft.com/office/officeart/2005/8/layout/process3"/>
    <dgm:cxn modelId="{863BBCD1-AF8C-42F8-911A-5AD6312B1022}" type="presParOf" srcId="{F9B6E0EB-7CDB-47F8-A4E1-58542D70EEE1}" destId="{12FF9BBB-04C0-4368-8FF3-D7992DCD8AAD}" srcOrd="1" destOrd="0" presId="urn:microsoft.com/office/officeart/2005/8/layout/process3"/>
    <dgm:cxn modelId="{606DD276-E57D-43F1-9733-DF93D4E6F282}" type="presParOf" srcId="{F9B6E0EB-7CDB-47F8-A4E1-58542D70EEE1}" destId="{6DD3BBB9-B555-49FE-B3C1-ABFB7D52CB2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2BBD45-466B-4CF4-8BDC-2BF8865A62D4}">
      <dsp:nvSpPr>
        <dsp:cNvPr id="0" name=""/>
        <dsp:cNvSpPr/>
      </dsp:nvSpPr>
      <dsp:spPr>
        <a:xfrm>
          <a:off x="3013" y="845826"/>
          <a:ext cx="2278882" cy="1090195"/>
        </a:xfrm>
        <a:prstGeom prst="roundRect">
          <a:avLst>
            <a:gd name="adj" fmla="val 10000"/>
          </a:avLst>
        </a:prstGeom>
        <a:solidFill>
          <a:srgbClr val="0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0" kern="1200" dirty="0">
              <a:latin typeface="Berlin Sans FB" panose="020E0602020502020306" pitchFamily="34" charset="0"/>
            </a:rPr>
            <a:t>Preprocesamiento</a:t>
          </a:r>
        </a:p>
      </dsp:txBody>
      <dsp:txXfrm>
        <a:off x="3013" y="845826"/>
        <a:ext cx="2278882" cy="726796"/>
      </dsp:txXfrm>
    </dsp:sp>
    <dsp:sp modelId="{411D4FE7-2B87-48EC-B520-E3FA456F8A3F}">
      <dsp:nvSpPr>
        <dsp:cNvPr id="0" name=""/>
        <dsp:cNvSpPr/>
      </dsp:nvSpPr>
      <dsp:spPr>
        <a:xfrm>
          <a:off x="545936" y="1845779"/>
          <a:ext cx="2020858" cy="200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65000"/>
              <a:lumOff val="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b="0" kern="1200" dirty="0">
              <a:latin typeface="+mn-lt"/>
            </a:rPr>
            <a:t>análisis de cobertura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b="0" kern="1200" dirty="0">
              <a:latin typeface="+mn-lt"/>
            </a:rPr>
            <a:t>transformación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+mn-lt"/>
            </a:rPr>
            <a:t>muestras perdidas</a:t>
          </a:r>
          <a:endParaRPr lang="es-AR" sz="1800" b="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+mn-lt"/>
            </a:rPr>
            <a:t>filtrado</a:t>
          </a:r>
          <a:endParaRPr lang="es-AR" sz="1800" kern="1200" dirty="0">
            <a:latin typeface="+mn-lt"/>
          </a:endParaRPr>
        </a:p>
      </dsp:txBody>
      <dsp:txXfrm>
        <a:off x="604772" y="1904615"/>
        <a:ext cx="1903186" cy="1891128"/>
      </dsp:txXfrm>
    </dsp:sp>
    <dsp:sp modelId="{122A98A8-6EDF-4153-93F6-54998DE3E2A8}">
      <dsp:nvSpPr>
        <dsp:cNvPr id="0" name=""/>
        <dsp:cNvSpPr/>
      </dsp:nvSpPr>
      <dsp:spPr>
        <a:xfrm>
          <a:off x="2555998" y="957656"/>
          <a:ext cx="581096" cy="503135"/>
        </a:xfrm>
        <a:prstGeom prst="rightArrow">
          <a:avLst>
            <a:gd name="adj1" fmla="val 60000"/>
            <a:gd name="adj2" fmla="val 50000"/>
          </a:avLst>
        </a:prstGeom>
        <a:solidFill>
          <a:schemeClr val="bg2">
            <a:lumMod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kern="1200"/>
        </a:p>
      </dsp:txBody>
      <dsp:txXfrm>
        <a:off x="2555998" y="1058283"/>
        <a:ext cx="430156" cy="301881"/>
      </dsp:txXfrm>
    </dsp:sp>
    <dsp:sp modelId="{E1381A8C-4B2E-4F0E-80B9-E37152DD3BFB}">
      <dsp:nvSpPr>
        <dsp:cNvPr id="0" name=""/>
        <dsp:cNvSpPr/>
      </dsp:nvSpPr>
      <dsp:spPr>
        <a:xfrm>
          <a:off x="3378304" y="845826"/>
          <a:ext cx="2278882" cy="1090195"/>
        </a:xfrm>
        <a:prstGeom prst="roundRect">
          <a:avLst>
            <a:gd name="adj" fmla="val 10000"/>
          </a:avLst>
        </a:prstGeom>
        <a:solidFill>
          <a:srgbClr val="0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0" kern="1200" dirty="0" err="1">
              <a:latin typeface="Berlin Sans FB" panose="020E0602020502020306" pitchFamily="34" charset="0"/>
            </a:rPr>
            <a:t>Similaridad</a:t>
          </a:r>
          <a:r>
            <a:rPr lang="es-AR" sz="2000" b="0" kern="1200" dirty="0">
              <a:latin typeface="Berlin Sans FB" panose="020E0602020502020306" pitchFamily="34" charset="0"/>
            </a:rPr>
            <a:t> y agrupamiento</a:t>
          </a:r>
        </a:p>
      </dsp:txBody>
      <dsp:txXfrm>
        <a:off x="3378304" y="845826"/>
        <a:ext cx="2278882" cy="726796"/>
      </dsp:txXfrm>
    </dsp:sp>
    <dsp:sp modelId="{1F9972E1-C84B-403D-B156-248D33767862}">
      <dsp:nvSpPr>
        <dsp:cNvPr id="0" name=""/>
        <dsp:cNvSpPr/>
      </dsp:nvSpPr>
      <dsp:spPr>
        <a:xfrm>
          <a:off x="3921226" y="1845779"/>
          <a:ext cx="2020858" cy="200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65000"/>
              <a:lumOff val="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dirty="0"/>
            <a:t>Correlación cruzada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800" kern="1200" dirty="0" err="1"/>
            <a:t>Clustering</a:t>
          </a:r>
          <a:r>
            <a:rPr lang="es-AR" sz="1800" kern="1200" dirty="0"/>
            <a:t> jerárquico? Otro?</a:t>
          </a:r>
        </a:p>
      </dsp:txBody>
      <dsp:txXfrm>
        <a:off x="3980062" y="1904615"/>
        <a:ext cx="1903186" cy="1891128"/>
      </dsp:txXfrm>
    </dsp:sp>
    <dsp:sp modelId="{CEB6B4A9-269E-4168-B6B8-F7D4E18DE639}">
      <dsp:nvSpPr>
        <dsp:cNvPr id="0" name=""/>
        <dsp:cNvSpPr/>
      </dsp:nvSpPr>
      <dsp:spPr>
        <a:xfrm>
          <a:off x="5931288" y="957656"/>
          <a:ext cx="581096" cy="503135"/>
        </a:xfrm>
        <a:prstGeom prst="rightArrow">
          <a:avLst>
            <a:gd name="adj1" fmla="val 60000"/>
            <a:gd name="adj2" fmla="val 50000"/>
          </a:avLst>
        </a:prstGeom>
        <a:solidFill>
          <a:schemeClr val="bg2">
            <a:lumMod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kern="1200"/>
        </a:p>
      </dsp:txBody>
      <dsp:txXfrm>
        <a:off x="5931288" y="1058283"/>
        <a:ext cx="430156" cy="301881"/>
      </dsp:txXfrm>
    </dsp:sp>
    <dsp:sp modelId="{12FF9BBB-04C0-4368-8FF3-D7992DCD8AAD}">
      <dsp:nvSpPr>
        <dsp:cNvPr id="0" name=""/>
        <dsp:cNvSpPr/>
      </dsp:nvSpPr>
      <dsp:spPr>
        <a:xfrm>
          <a:off x="6753594" y="845826"/>
          <a:ext cx="2278882" cy="1090195"/>
        </a:xfrm>
        <a:prstGeom prst="roundRect">
          <a:avLst>
            <a:gd name="adj" fmla="val 10000"/>
          </a:avLst>
        </a:prstGeom>
        <a:solidFill>
          <a:srgbClr val="0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0" kern="1200" dirty="0">
              <a:latin typeface="Berlin Sans FB" panose="020E0602020502020306" pitchFamily="34" charset="0"/>
            </a:rPr>
            <a:t>Forma vs. nivel</a:t>
          </a:r>
        </a:p>
      </dsp:txBody>
      <dsp:txXfrm>
        <a:off x="6753594" y="845826"/>
        <a:ext cx="2278882" cy="726796"/>
      </dsp:txXfrm>
    </dsp:sp>
    <dsp:sp modelId="{6DD3BBB9-B555-49FE-B3C1-ABFB7D52CB2E}">
      <dsp:nvSpPr>
        <dsp:cNvPr id="0" name=""/>
        <dsp:cNvSpPr/>
      </dsp:nvSpPr>
      <dsp:spPr>
        <a:xfrm>
          <a:off x="7296517" y="1845779"/>
          <a:ext cx="2020858" cy="200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65000"/>
              <a:lumOff val="3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Cruce de cada </a:t>
          </a:r>
          <a:r>
            <a:rPr lang="es-ES" sz="1800" kern="1200" dirty="0" err="1"/>
            <a:t>cluster</a:t>
          </a:r>
          <a:r>
            <a:rPr lang="es-ES" sz="1800" kern="1200" dirty="0"/>
            <a:t> con popularidad y </a:t>
          </a:r>
          <a:r>
            <a:rPr lang="es-ES" sz="1800" kern="1200" dirty="0" err="1"/>
            <a:t>metadata</a:t>
          </a:r>
          <a:r>
            <a:rPr lang="es-ES" sz="1800" kern="1200" dirty="0"/>
            <a:t>.</a:t>
          </a:r>
          <a:endParaRPr lang="es-AR" sz="1800" kern="1200" dirty="0"/>
        </a:p>
      </dsp:txBody>
      <dsp:txXfrm>
        <a:off x="7355353" y="1904615"/>
        <a:ext cx="1903186" cy="18911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4919F-5667-422B-B4CE-C5F4C6F4BB73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DB7E4-DA15-4627-9A19-6690B8A1BB5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953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Foto versus película del artista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1338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No existen </a:t>
            </a:r>
            <a:r>
              <a:rPr lang="es-AR" dirty="0" err="1"/>
              <a:t>datasets</a:t>
            </a:r>
            <a:r>
              <a:rPr lang="es-AR" dirty="0"/>
              <a:t> públicos. PROPIO. CHARTMETRIC. </a:t>
            </a:r>
          </a:p>
          <a:p>
            <a:r>
              <a:rPr lang="es-ES" dirty="0"/>
              <a:t>mensual x cobertura conjunta . Además dominio. No tiene sentido.</a:t>
            </a:r>
          </a:p>
          <a:p>
            <a:r>
              <a:rPr lang="es-ES" dirty="0"/>
              <a:t>Por el teorema del muestreo, la oscilación más rápida que el panel puede representar dura dos meses (6 ciclos por año); </a:t>
            </a:r>
          </a:p>
          <a:p>
            <a:endParaRPr lang="es-AR" dirty="0"/>
          </a:p>
          <a:p>
            <a:r>
              <a:rPr lang="es-AR" dirty="0"/>
              <a:t>Fuente: </a:t>
            </a:r>
            <a:r>
              <a:rPr lang="es-AR" dirty="0" err="1"/>
              <a:t>Chartmetric</a:t>
            </a:r>
            <a:r>
              <a:rPr lang="es-AR" dirty="0"/>
              <a:t> API, plataforma líder global de analítica de datos de la industria de la música.</a:t>
            </a:r>
          </a:p>
          <a:p>
            <a:r>
              <a:rPr lang="es-AR" dirty="0"/>
              <a:t>Licencia de uso académica con restricciones.</a:t>
            </a:r>
          </a:p>
          <a:p>
            <a:r>
              <a:rPr lang="es-AR" dirty="0"/>
              <a:t>*Los datos no pueden ser publicados en forma cruda ni permitir la reconstrucción transparente de métricas individuales.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4346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6AB6-6844-C5F7-3B21-23C016F1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77BB89A-209A-FA8B-6CE1-49B9636F0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5CF99A4-33FF-A370-77F8-32B122EFB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38E346-33D0-7A02-FA88-131CECF0E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6696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2285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E1867-BAD0-C2A7-FCFF-347FB2B47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0BB90D-3118-3497-66A7-59F0FCE0A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01D364-DEF2-80CC-0D8B-232DA4D93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Ed Sheeran (trayectoria consolidada) y Peso Pluma (crecimiento explosivo en 2023) </a:t>
            </a:r>
          </a:p>
          <a:p>
            <a:r>
              <a:rPr lang="es-ES" dirty="0"/>
              <a:t>órdenes de magnitud entre variables y entre artistas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F5F1CA-B3B2-3405-622E-CCD2492B9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3312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7E3E-342C-BA07-DC5A-614A6E8E6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461CB2-8F21-7ACD-ADD3-28D4AD454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27371FA-59BB-21F8-9DF3-3A47E163A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Estadísticos descriptivos en el dominio del tiempo. Medianas que suben otras no. Salto en </a:t>
            </a:r>
            <a:r>
              <a:rPr lang="es-AR" dirty="0" err="1"/>
              <a:t>playlist</a:t>
            </a:r>
            <a:r>
              <a:rPr lang="es-AR" dirty="0"/>
              <a:t> YT antes de imputar.</a:t>
            </a:r>
          </a:p>
          <a:p>
            <a:r>
              <a:rPr lang="es-AR" dirty="0"/>
              <a:t>Media siempre por encima de la mediana. Desbalanceada.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hacia los valores altos. Cola larga</a:t>
            </a: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40405A-13DF-27DF-56BA-CD7234D57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1150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5FCAC-AFA9-C0C6-C085-BFB7017B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D961820-6994-55D1-1CDB-9C1077B6C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A3931F-1C7B-5C5A-3B31-8FA65F834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51D8AC-B9DD-258E-7B40-58FE6D442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9048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C176-F6A2-AE12-E366-84892778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7222E3-307E-8B5A-9595-073FBAC88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C81B9B-73E7-EC9E-6804-F917BB8EB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Lineal y no </a:t>
            </a:r>
            <a:r>
              <a:rPr lang="es-AR" dirty="0" err="1"/>
              <a:t>spline</a:t>
            </a: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8AAFF6-B96D-20BF-D4D6-33F3FC1C0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3422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A61E-DA42-AF13-3C44-884BE436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003019-F225-CDD2-EB5D-40AACBB92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061CB3-7D17-B207-A40B-AE379158C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Con log1p cada uno crece en proporción a su escala, esto permite comparar crecimientos. Son variables con colas muy largas que no queremos cortar.</a:t>
            </a:r>
          </a:p>
          <a:p>
            <a:r>
              <a:rPr lang="es-AR" dirty="0"/>
              <a:t>Y con el centrado quitamos el nivel. Cada artista x por cada variable, resta su media. Observamos respecto de 0.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4B4FA5-3571-F929-B53F-B7092C243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1555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3A55B-C641-C17C-E969-5A9D64AD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B8F0B3-0AEE-0D45-AC06-8A5D0752F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797C27-B299-CC99-2747-1E7E12F8B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latin typeface="+mn-lt"/>
              </a:rPr>
              <a:t>: media móvil como pasa-bajos FIR, verificada en el dominio de la frecuencia (FFT)</a:t>
            </a:r>
            <a:endParaRPr lang="es-AR" dirty="0"/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0900CC-BE37-BFDE-E97A-793CF4CEA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5335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9112B-EF03-46E8-09D0-331B371E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A166C4-058F-2BB0-97BA-F9C249029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45B774-0D82-00E5-1B7A-CD0A25BC2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1" dirty="0"/>
              <a:t>Pensemos cada serie como una suma de ondas lentas y rápidas. Una media móvil es un filtro: deja pasar las ondas lentas y borra las rápidas.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1" dirty="0"/>
              <a:t>la de 3 meses conserva los cambios de más de medio año y borra el ruido mes a mes;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1" dirty="0"/>
              <a:t>la de 12 solo deja la tendencia de años.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1" dirty="0"/>
              <a:t>/// el mismo suavizado hecho con FFT sobre TINI: sale bien solo si antes quitamos la tendencia, porque la FFT trata la serie como si se repitiera. Por eso la media móvil es nuestro filtro principal.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2AAF1D-EAD4-7E6F-EC3A-11350944E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916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6157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A7CC3-B229-6E4B-0100-8BA172C1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3927817-FB8A-2FFC-A2AB-B14C12384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DF16EE-22F7-4433-74C1-14B70C987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*Los datos no pueden ser publicados en forma cruda ni permitir la reconstrucción transparente de métricas individuales.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7E0984-3043-DEF8-838B-279EAC854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5294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70DE9-BA56-58CA-FAFA-AFDA2C7D7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7E0E78-4CDF-FB13-246B-A677A7F40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FFC986-1A3A-AF4F-EC77-4B59FF8C3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*Los datos no pueden ser publicados en forma cruda ni permitir la reconstrucción transparente de métricas individuales.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903D65-B22F-9C60-34D8-E5D113998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B7E4-DA15-4627-9A19-6690B8A1BB57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31859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0126C-C01F-68C2-3EB6-615F24EAA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CDE631-8A04-0058-6DAC-0EB595C7A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CCA6EE-1532-ECB7-7606-5423F9217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22E01B-44AB-8110-37E6-42C6AAEB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F395AA-DECB-FE4F-EA05-0EFDBE99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4847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908AC-C8DF-1F16-6C64-2C7432EF8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2EB1EE-D82A-B1A1-5C69-18C4BC2DA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F413ED-140D-2092-C932-85F914C0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B2C14F-8930-D608-5A62-FDD1EF1E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84F606-E926-914A-C8BF-45C4758C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716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B0C3E-2C62-29EE-B138-DA42E7D4B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78500F-8611-F9B0-FA90-34D7CD7BD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5F78EE-7FF9-97B6-DD96-77B282FC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BB61A0-69AA-6B81-7C51-F5E071D3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94D4FD-6A18-F296-7212-1B3EB710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7333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716EF-45AE-8F05-6F29-83671DAB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9C7C29-3584-07DA-8093-3F8388B98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AEBAD0-DA70-2A4B-9D6C-38096EFCA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6EFC98-9467-9296-F8A6-2F9100785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949A11-A4B3-D937-C1A2-98382197E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A5A55D-DECE-F565-7C55-9E5C554DF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30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EB735-1798-A789-3B44-C0289CDC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E1E450-AA23-3271-AABA-0A9094DE0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4D9ABC-1B74-863D-FAF2-6BF291931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EB9A65C-3970-F86F-3CA4-7DBD1B939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528D85-F7CE-2D1A-D639-092257D9E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5B2C1D1-CA17-9E6D-30DD-0F49DF771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6D56D4-B863-AE5A-E73F-E6774922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7C7D82E-2092-1D6D-3E32-3C01DFA2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20101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500CE-6887-D43A-8E2E-371CD20F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4E852D8-B522-0236-134A-80F8B5DC8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0435885-A346-F0BB-89EB-AE0A4D58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70D97F-1174-48FF-F06D-2DE1313C5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64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B17C0B-3896-1E65-9B44-73FB86F1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0CEB46A-22EE-3C65-0800-E30761D7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33128C-4A75-B966-92AB-215D3CEC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93041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D15C8-EC09-6A0F-750E-7105E5AF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F9A6D0-2DCF-7A15-4B0A-FCFA4AF62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2B5B85-B1E0-B6DC-5DE8-E945CB2DF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053FB7-C507-ADB1-8D67-8E880B04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FB53F6-CB2B-6A0B-AA76-01057277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237BCC-4F95-D55C-B10D-77DFA51D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683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57A11-8D1A-9B01-7118-378CCC5E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BE57A3-183F-6209-7BC3-279FF1884C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60A337-4D47-E4B7-DAD3-AA8C86137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1CDC8A-52FA-EF4B-8D54-94E5A71E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47AF8B-D5EE-660D-0D03-53970986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6CF8BB-4B97-147B-FF05-351B1288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9015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2FA91-DF27-6523-7182-C39EBA57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224B06-66B9-6AEA-C596-C9AA48D0B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5A7532-D69D-2755-FC89-F9393BDB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1F3D3D-B318-C86D-6351-CCAA87A1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52B459-606D-07D2-627C-B28B4525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6594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944A22-7006-64A6-86FC-E98393F3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60D0C4-DA00-EFF4-18D4-20FF80944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1F7AAA-0FE0-3AA7-A940-5E9727EA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6EB461-2686-E4B6-68C1-C58FBA5D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65F234-0254-BF2F-9A83-ACE32D93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530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99BFDF-92E7-97A2-8C79-5C6755986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792819-09C1-F769-8112-B7BEDBBFC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E60BA4-0861-74FE-C2FC-11191F5F0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D1EC4-8B2D-494D-9168-C6F2B3D36072}" type="datetimeFigureOut">
              <a:rPr lang="es-AR" smtClean="0"/>
              <a:t>5/10/2026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2AF1E9-C2B3-9D77-91C4-7539FD800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78C0A5-3315-9811-6083-DA27DC13F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B9BDA-C7BD-49F7-9D1E-BC1B68F3F33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1284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6.jp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0E8A1045-715C-EFFA-9FBF-03D8247929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6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13F40CD-1BB2-E406-93D9-112BC19D4918}"/>
              </a:ext>
            </a:extLst>
          </p:cNvPr>
          <p:cNvSpPr txBox="1"/>
          <p:nvPr/>
        </p:nvSpPr>
        <p:spPr>
          <a:xfrm>
            <a:off x="940990" y="1289518"/>
            <a:ext cx="8749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b="1" i="1" dirty="0" err="1">
                <a:latin typeface="Berlin Sans FB Demi" panose="020E0802020502020306" pitchFamily="34" charset="0"/>
              </a:rPr>
              <a:t>The</a:t>
            </a:r>
            <a:r>
              <a:rPr lang="es-AR" sz="3600" b="1" i="1" dirty="0">
                <a:latin typeface="Berlin Sans FB Demi" panose="020E0802020502020306" pitchFamily="34" charset="0"/>
              </a:rPr>
              <a:t> </a:t>
            </a:r>
            <a:r>
              <a:rPr lang="es-AR" sz="3600" b="1" i="1" dirty="0" err="1">
                <a:latin typeface="Berlin Sans FB Demi" panose="020E0802020502020306" pitchFamily="34" charset="0"/>
              </a:rPr>
              <a:t>long</a:t>
            </a:r>
            <a:r>
              <a:rPr lang="es-AR" sz="3600" b="1" i="1" dirty="0">
                <a:latin typeface="Berlin Sans FB Demi" panose="020E0802020502020306" pitchFamily="34" charset="0"/>
              </a:rPr>
              <a:t> and </a:t>
            </a:r>
            <a:r>
              <a:rPr lang="es-AR" sz="3600" b="1" i="1" dirty="0" err="1">
                <a:latin typeface="Berlin Sans FB Demi" panose="020E0802020502020306" pitchFamily="34" charset="0"/>
              </a:rPr>
              <a:t>winding</a:t>
            </a:r>
            <a:r>
              <a:rPr lang="es-AR" sz="3600" b="1" i="1" dirty="0">
                <a:latin typeface="Berlin Sans FB Demi" panose="020E0802020502020306" pitchFamily="34" charset="0"/>
              </a:rPr>
              <a:t> </a:t>
            </a:r>
            <a:r>
              <a:rPr lang="es-AR" sz="3600" b="1" i="1" dirty="0" err="1">
                <a:latin typeface="Berlin Sans FB Demi" panose="020E0802020502020306" pitchFamily="34" charset="0"/>
              </a:rPr>
              <a:t>road</a:t>
            </a:r>
            <a:r>
              <a:rPr lang="es-AR" sz="3600" b="1" dirty="0">
                <a:latin typeface="Berlin Sans FB Demi" panose="020E0802020502020306" pitchFamily="34" charset="0"/>
              </a:rPr>
              <a:t>: </a:t>
            </a:r>
          </a:p>
          <a:p>
            <a:r>
              <a:rPr lang="es-AR" sz="3600" b="1" dirty="0">
                <a:latin typeface="Berlin Sans FB Demi" panose="020E0802020502020306" pitchFamily="34" charset="0"/>
              </a:rPr>
              <a:t>buscando perfiles de trayectorias de artistas a partir de métricas digitales.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7454BEE-E767-D2E0-D70A-009A6E720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74607"/>
            <a:ext cx="12192000" cy="3810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472AAE5-C8C3-FD06-4EA3-A9A68ECFF4EE}"/>
              </a:ext>
            </a:extLst>
          </p:cNvPr>
          <p:cNvSpPr txBox="1"/>
          <p:nvPr/>
        </p:nvSpPr>
        <p:spPr>
          <a:xfrm>
            <a:off x="6957847" y="5559702"/>
            <a:ext cx="4977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AR" dirty="0">
                <a:latin typeface="Berlin Sans FB" panose="020E0602020502020306" pitchFamily="34" charset="0"/>
              </a:rPr>
              <a:t>Maestría en Data </a:t>
            </a:r>
            <a:r>
              <a:rPr lang="es-AR" dirty="0" err="1">
                <a:latin typeface="Berlin Sans FB" panose="020E0602020502020306" pitchFamily="34" charset="0"/>
              </a:rPr>
              <a:t>Mining</a:t>
            </a:r>
            <a:endParaRPr lang="es-AR" dirty="0">
              <a:latin typeface="Berlin Sans FB" panose="020E0602020502020306" pitchFamily="34" charset="0"/>
            </a:endParaRPr>
          </a:p>
          <a:p>
            <a:pPr algn="r"/>
            <a:r>
              <a:rPr lang="es-AR" dirty="0">
                <a:latin typeface="Berlin Sans FB" panose="020E0602020502020306" pitchFamily="34" charset="0"/>
              </a:rPr>
              <a:t>Facultad de Ciencias Exactas y Naturales</a:t>
            </a:r>
          </a:p>
          <a:p>
            <a:pPr algn="r"/>
            <a:r>
              <a:rPr lang="es-AR" dirty="0">
                <a:latin typeface="Berlin Sans FB" panose="020E0602020502020306" pitchFamily="34" charset="0"/>
              </a:rPr>
              <a:t>Universidad de Buenos Aires.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9B08EB-E027-DF43-72C7-6CD2659DC4FC}"/>
              </a:ext>
            </a:extLst>
          </p:cNvPr>
          <p:cNvSpPr txBox="1"/>
          <p:nvPr/>
        </p:nvSpPr>
        <p:spPr>
          <a:xfrm>
            <a:off x="1035584" y="3479230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Berlin Sans FB" panose="020E0602020502020306" pitchFamily="34" charset="0"/>
              </a:rPr>
              <a:t>Trabajo práctico de la materia Series Temporales</a:t>
            </a:r>
          </a:p>
          <a:p>
            <a:r>
              <a:rPr lang="es-AR" dirty="0">
                <a:latin typeface="Berlin Sans FB" panose="020E0602020502020306" pitchFamily="34" charset="0"/>
              </a:rPr>
              <a:t>Entrega preliminar. Octubre 2026.</a:t>
            </a:r>
          </a:p>
          <a:p>
            <a:r>
              <a:rPr lang="es-AR" dirty="0">
                <a:latin typeface="Berlin Sans FB" panose="020E0602020502020306" pitchFamily="34" charset="0"/>
              </a:rPr>
              <a:t>Autora: Silvana Contreras</a:t>
            </a:r>
          </a:p>
        </p:txBody>
      </p:sp>
    </p:spTree>
    <p:extLst>
      <p:ext uri="{BB962C8B-B14F-4D97-AF65-F5344CB8AC3E}">
        <p14:creationId xmlns:p14="http://schemas.microsoft.com/office/powerpoint/2010/main" val="3385332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425AAEB5-E9FF-A941-D0DC-F3957653591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6887"/>
            <a:ext cx="12192000" cy="3810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E0ADCB1-519C-CD51-06DE-69B3D3DCE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3326"/>
            <a:ext cx="5446712" cy="3616104"/>
          </a:xfrm>
        </p:spPr>
        <p:txBody>
          <a:bodyPr>
            <a:noAutofit/>
          </a:bodyPr>
          <a:lstStyle/>
          <a:p>
            <a:r>
              <a:rPr lang="es-ES" sz="3400" dirty="0">
                <a:latin typeface="Berlin Sans FB" panose="020E0602020502020306" pitchFamily="34" charset="0"/>
              </a:rPr>
              <a:t>¿Existen perfiles digitales diferenciados en la trayectoria temporal de los artistas musicales que se puedan identificar a partir del análisis conjunto de métricas de </a:t>
            </a:r>
            <a:r>
              <a:rPr lang="es-ES" sz="3400" i="1" dirty="0" err="1">
                <a:latin typeface="Berlin Sans FB" panose="020E0602020502020306" pitchFamily="34" charset="0"/>
              </a:rPr>
              <a:t>streaming</a:t>
            </a:r>
            <a:r>
              <a:rPr lang="es-ES" sz="3400" dirty="0">
                <a:latin typeface="Berlin Sans FB" panose="020E0602020502020306" pitchFamily="34" charset="0"/>
              </a:rPr>
              <a:t> y redes sociales?</a:t>
            </a:r>
            <a:endParaRPr lang="es-AR" sz="3400" dirty="0">
              <a:latin typeface="Berlin Sans FB" panose="020E0602020502020306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9BE6608-D4B1-1239-129D-C31702CC511B}"/>
              </a:ext>
            </a:extLst>
          </p:cNvPr>
          <p:cNvSpPr txBox="1">
            <a:spLocks/>
          </p:cNvSpPr>
          <p:nvPr/>
        </p:nvSpPr>
        <p:spPr>
          <a:xfrm>
            <a:off x="839789" y="48530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AR" dirty="0"/>
              <a:t>La motivación es extender una investigación previa </a:t>
            </a:r>
          </a:p>
          <a:p>
            <a:pPr algn="r"/>
            <a:r>
              <a:rPr lang="es-AR" dirty="0"/>
              <a:t>Basada en perfiles estáticos.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A810DEE-1F67-A163-F61D-C03738D6E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488" y="1075783"/>
            <a:ext cx="5219470" cy="361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4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BF65B280-3686-0E28-56F8-7976FDAD6A1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251"/>
            <a:ext cx="12192000" cy="3810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5BF7BF4-4F67-9B4A-4DDE-D0FC4561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latin typeface="Berlin Sans FB Demi" panose="020E0802020502020306" pitchFamily="34" charset="0"/>
              </a:rPr>
              <a:t>1000 artistas, 49 meses, 5 variables*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3B6ACED-86F4-A85A-C79C-523181F12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277981"/>
              </p:ext>
            </p:extLst>
          </p:nvPr>
        </p:nvGraphicFramePr>
        <p:xfrm>
          <a:off x="838200" y="1690688"/>
          <a:ext cx="10236200" cy="3753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200">
                  <a:extLst>
                    <a:ext uri="{9D8B030D-6E8A-4147-A177-3AD203B41FA5}">
                      <a16:colId xmlns:a16="http://schemas.microsoft.com/office/drawing/2014/main" val="3421186229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628953049"/>
                    </a:ext>
                  </a:extLst>
                </a:gridCol>
                <a:gridCol w="1987550">
                  <a:extLst>
                    <a:ext uri="{9D8B030D-6E8A-4147-A177-3AD203B41FA5}">
                      <a16:colId xmlns:a16="http://schemas.microsoft.com/office/drawing/2014/main" val="2544173103"/>
                    </a:ext>
                  </a:extLst>
                </a:gridCol>
                <a:gridCol w="2559050">
                  <a:extLst>
                    <a:ext uri="{9D8B030D-6E8A-4147-A177-3AD203B41FA5}">
                      <a16:colId xmlns:a16="http://schemas.microsoft.com/office/drawing/2014/main" val="1500703164"/>
                    </a:ext>
                  </a:extLst>
                </a:gridCol>
              </a:tblGrid>
              <a:tr h="843149">
                <a:tc>
                  <a:txBody>
                    <a:bodyPr/>
                    <a:lstStyle/>
                    <a:p>
                      <a:pPr algn="ctr"/>
                      <a:r>
                        <a:rPr lang="es-AR" sz="2800" b="0" dirty="0">
                          <a:latin typeface="Berlin Sans FB" panose="020E0602020502020306" pitchFamily="34" charset="0"/>
                        </a:rPr>
                        <a:t>Quiénes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800" b="0" dirty="0">
                          <a:latin typeface="Berlin Sans FB" panose="020E0602020502020306" pitchFamily="34" charset="0"/>
                        </a:rPr>
                        <a:t>Qué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800" b="0" dirty="0">
                          <a:latin typeface="Berlin Sans FB" panose="020E0602020502020306" pitchFamily="34" charset="0"/>
                        </a:rPr>
                        <a:t>Cuándo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800" b="0" dirty="0">
                          <a:latin typeface="Berlin Sans FB" panose="020E0602020502020306" pitchFamily="34" charset="0"/>
                        </a:rPr>
                        <a:t>Cada cuánto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425559"/>
                  </a:ext>
                </a:extLst>
              </a:tr>
              <a:tr h="843149">
                <a:tc>
                  <a:txBody>
                    <a:bodyPr/>
                    <a:lstStyle/>
                    <a:p>
                      <a:pPr algn="ctr"/>
                      <a:r>
                        <a:rPr lang="es-AR" sz="2500" b="1" dirty="0"/>
                        <a:t>~1000 artistas musicales globales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 err="1"/>
                        <a:t>spotify_followers</a:t>
                      </a:r>
                      <a:r>
                        <a:rPr lang="en-US" sz="2500" b="1" dirty="0"/>
                        <a:t>,</a:t>
                      </a:r>
                    </a:p>
                    <a:p>
                      <a:pPr algn="ctr"/>
                      <a:r>
                        <a:rPr lang="en-US" sz="2500" b="1" dirty="0" err="1"/>
                        <a:t>instagram_followers</a:t>
                      </a:r>
                      <a:r>
                        <a:rPr lang="en-US" sz="2500" b="1" dirty="0"/>
                        <a:t>,</a:t>
                      </a:r>
                    </a:p>
                    <a:p>
                      <a:pPr algn="ctr"/>
                      <a:r>
                        <a:rPr lang="en-US" sz="2500" b="1" dirty="0" err="1"/>
                        <a:t>spotify_playlist_count</a:t>
                      </a:r>
                      <a:r>
                        <a:rPr lang="en-US" sz="2500" b="1" dirty="0"/>
                        <a:t>,</a:t>
                      </a:r>
                    </a:p>
                    <a:p>
                      <a:pPr algn="ctr"/>
                      <a:r>
                        <a:rPr lang="en-US" sz="2500" b="1" dirty="0" err="1"/>
                        <a:t>youtube_subscribers</a:t>
                      </a:r>
                      <a:r>
                        <a:rPr lang="en-US" sz="2500" b="1" dirty="0"/>
                        <a:t>,</a:t>
                      </a:r>
                    </a:p>
                    <a:p>
                      <a:pPr algn="ctr"/>
                      <a:r>
                        <a:rPr lang="en-US" sz="2500" b="1" dirty="0" err="1"/>
                        <a:t>youtube_playlist_count</a:t>
                      </a:r>
                      <a:endParaRPr lang="es-AR" sz="2500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500" b="1" dirty="0"/>
                        <a:t>marzo 2022 a </a:t>
                      </a:r>
                    </a:p>
                    <a:p>
                      <a:pPr algn="ctr"/>
                      <a:r>
                        <a:rPr lang="es-ES" sz="2500" b="1" dirty="0"/>
                        <a:t>marzo 2026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500" b="1" dirty="0"/>
                        <a:t>1 mes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316917"/>
                  </a:ext>
                </a:extLst>
              </a:tr>
              <a:tr h="843149">
                <a:tc>
                  <a:txBody>
                    <a:bodyPr/>
                    <a:lstStyle/>
                    <a:p>
                      <a:pPr algn="ctr"/>
                      <a:r>
                        <a:rPr lang="es-ES" sz="1800" i="1" dirty="0"/>
                        <a:t>Muestreo aleatorio estratificado del top 5000.</a:t>
                      </a:r>
                      <a:endParaRPr lang="es-AR" sz="1800" i="1" dirty="0"/>
                    </a:p>
                  </a:txBody>
                  <a:tcPr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i="1" dirty="0"/>
                        <a:t>5 de 24 atributos extraídos.</a:t>
                      </a:r>
                    </a:p>
                  </a:txBody>
                  <a:tcPr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i="1" dirty="0"/>
                        <a:t>49 meses</a:t>
                      </a:r>
                      <a:endParaRPr lang="es-ES" sz="1800" i="1" dirty="0"/>
                    </a:p>
                  </a:txBody>
                  <a:tcPr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i="1" dirty="0"/>
                        <a:t>Granularidad unificada por cobertura de fuente. </a:t>
                      </a:r>
                    </a:p>
                  </a:txBody>
                  <a:tcPr anchor="ctr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185846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771953C4-F66D-6F00-8242-B7E4EC2076CD}"/>
              </a:ext>
            </a:extLst>
          </p:cNvPr>
          <p:cNvSpPr txBox="1"/>
          <p:nvPr/>
        </p:nvSpPr>
        <p:spPr>
          <a:xfrm>
            <a:off x="838200" y="6007099"/>
            <a:ext cx="1023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AR" dirty="0"/>
              <a:t>*</a:t>
            </a:r>
            <a:r>
              <a:rPr lang="es-AR" b="1" dirty="0" err="1"/>
              <a:t>Dataset</a:t>
            </a:r>
            <a:r>
              <a:rPr lang="es-AR" b="1" dirty="0"/>
              <a:t> original</a:t>
            </a:r>
            <a:r>
              <a:rPr lang="es-AR" dirty="0"/>
              <a:t>. Extracción datos </a:t>
            </a:r>
            <a:r>
              <a:rPr lang="es-AR" dirty="0" err="1"/>
              <a:t>Chartmetric</a:t>
            </a:r>
            <a:r>
              <a:rPr lang="es-AR" dirty="0"/>
              <a:t> API. </a:t>
            </a:r>
          </a:p>
        </p:txBody>
      </p:sp>
    </p:spTree>
    <p:extLst>
      <p:ext uri="{BB962C8B-B14F-4D97-AF65-F5344CB8AC3E}">
        <p14:creationId xmlns:p14="http://schemas.microsoft.com/office/powerpoint/2010/main" val="410858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183C-A9C4-FF6F-E065-0E0188D68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D6AFA4C-1BFB-D542-FF88-07AC55C671F3}"/>
              </a:ext>
            </a:extLst>
          </p:cNvPr>
          <p:cNvSpPr txBox="1"/>
          <p:nvPr/>
        </p:nvSpPr>
        <p:spPr>
          <a:xfrm>
            <a:off x="838200" y="1920875"/>
            <a:ext cx="5028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latin typeface="Berlin Sans FB Demi" panose="020E0802020502020306" pitchFamily="34" charset="0"/>
              </a:rPr>
              <a:t>1,047 artistas = trayectorias</a:t>
            </a:r>
          </a:p>
          <a:p>
            <a:r>
              <a:rPr lang="es-AR" sz="2400" dirty="0">
                <a:latin typeface="Berlin Sans FB Demi" panose="020E0802020502020306" pitchFamily="34" charset="0"/>
              </a:rPr>
              <a:t>5,235 series (artistas * 5 variables)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9B50F29-269B-F189-8E1A-7CA245B0B1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Cada artista es una trayectoria multivariada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791C5E9-612C-E4BA-78F2-8D087BC26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" y="2428875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0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7B92637-8D6C-E6AB-830E-479AC9F74F5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6784"/>
            <a:ext cx="12192000" cy="3810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8B6DBDF-D142-ABAC-3702-1B6D059CE9FE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530DCA-9ABC-B379-8276-FD032D722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843088"/>
            <a:ext cx="58293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S" dirty="0"/>
              <a:t>Extraer nuevos datos del conjunto de artistas abordado en la investigación previa.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Preprocesar y analizar la evolución de esas señales en el tiempo.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Buscar perfiles de trayectorias reconocibles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Cruzar perfiles con </a:t>
            </a:r>
            <a:r>
              <a:rPr lang="es-ES" dirty="0" err="1"/>
              <a:t>metadata</a:t>
            </a:r>
            <a:r>
              <a:rPr lang="es-ES" dirty="0"/>
              <a:t> de los artistas (género musical, sello discográfico, territorio).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EB6A455-22BE-3D27-D2A4-E0839893A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3" r="35906"/>
          <a:stretch>
            <a:fillRect/>
          </a:stretch>
        </p:blipFill>
        <p:spPr>
          <a:xfrm>
            <a:off x="7061200" y="15854"/>
            <a:ext cx="5130800" cy="684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7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013C447-3829-E195-7748-DC99CA7C5D8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11"/>
          <a:stretch>
            <a:fillRect/>
          </a:stretch>
        </p:blipFill>
        <p:spPr>
          <a:xfrm>
            <a:off x="4183117" y="3271345"/>
            <a:ext cx="8008883" cy="38100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E08ABC67-D3CE-89E9-9B4A-B8EEBADD9DA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Métodos a aplicar (para revisión)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2701F28-F017-5F5D-A6FF-25A0A0665EA7}"/>
              </a:ext>
            </a:extLst>
          </p:cNvPr>
          <p:cNvSpPr/>
          <p:nvPr/>
        </p:nvSpPr>
        <p:spPr>
          <a:xfrm>
            <a:off x="-1429407" y="-641132"/>
            <a:ext cx="5612524" cy="7499132"/>
          </a:xfrm>
          <a:prstGeom prst="rect">
            <a:avLst/>
          </a:prstGeom>
          <a:blipFill dpi="0" rotWithShape="1">
            <a:blip r:embed="rId4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7F8D8EA5-41F7-C3CD-4E5C-08C9835495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4888716"/>
              </p:ext>
            </p:extLst>
          </p:nvPr>
        </p:nvGraphicFramePr>
        <p:xfrm>
          <a:off x="1221486" y="1681655"/>
          <a:ext cx="9320390" cy="4427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Elipse 7">
            <a:extLst>
              <a:ext uri="{FF2B5EF4-FFF2-40B4-BE49-F238E27FC236}">
                <a16:creationId xmlns:a16="http://schemas.microsoft.com/office/drawing/2014/main" id="{3F23E572-F3EF-BDD8-F54D-022512DC34E2}"/>
              </a:ext>
            </a:extLst>
          </p:cNvPr>
          <p:cNvSpPr/>
          <p:nvPr/>
        </p:nvSpPr>
        <p:spPr>
          <a:xfrm rot="663746">
            <a:off x="9414934" y="4588439"/>
            <a:ext cx="2227627" cy="188923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s-ES" sz="1400" b="1" dirty="0"/>
              <a:t>¿La explosión se concentra en los artistas menos populares? ¿El estancamiento, en los consolidados?</a:t>
            </a:r>
            <a:endParaRPr lang="es-AR" sz="1400" b="1" dirty="0"/>
          </a:p>
        </p:txBody>
      </p:sp>
    </p:spTree>
    <p:extLst>
      <p:ext uri="{BB962C8B-B14F-4D97-AF65-F5344CB8AC3E}">
        <p14:creationId xmlns:p14="http://schemas.microsoft.com/office/powerpoint/2010/main" val="17830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7C754-06AD-8DBA-D0E1-93ACA49E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8B21ACE-9052-B238-85D9-3DFF3D2414BF}"/>
              </a:ext>
            </a:extLst>
          </p:cNvPr>
          <p:cNvSpPr/>
          <p:nvPr/>
        </p:nvSpPr>
        <p:spPr>
          <a:xfrm>
            <a:off x="0" y="-294290"/>
            <a:ext cx="5044965" cy="7152290"/>
          </a:xfrm>
          <a:prstGeom prst="rect">
            <a:avLst/>
          </a:prstGeom>
          <a:blipFill dpi="0" rotWithShape="1">
            <a:blip r:embed="rId3">
              <a:alphaModFix amt="1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DCCFF55-D98E-AC35-603D-21DBC043B67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Series crudas de Ed Sheeran y Peso Pluma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E1968AE-DEFD-DC38-2B93-6CC948309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86" y="2179320"/>
            <a:ext cx="11204028" cy="354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69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F9EDC-E0C1-D51D-AC70-9197C373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3232156-705C-C467-60C3-11CBE095DC4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Estadísticos descriptivos de las series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8312CB5-F1E8-A76C-2054-0786CA715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411" y="1453369"/>
            <a:ext cx="8959319" cy="321975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318E0F1-7023-9610-3FB6-BEC2600E6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4" t="13231" r="8105" b="29433"/>
          <a:stretch>
            <a:fillRect/>
          </a:stretch>
        </p:blipFill>
        <p:spPr>
          <a:xfrm>
            <a:off x="1053511" y="4819685"/>
            <a:ext cx="9377255" cy="156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238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79C70-0A7C-D5F9-46FF-AB0EE0ED4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258797B-21F8-B50D-85D4-05164EA4753F}"/>
              </a:ext>
            </a:extLst>
          </p:cNvPr>
          <p:cNvSpPr/>
          <p:nvPr/>
        </p:nvSpPr>
        <p:spPr>
          <a:xfrm>
            <a:off x="4183118" y="0"/>
            <a:ext cx="8502870" cy="6858000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080C68F-E206-F6EF-EDD7-40C0124C87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Zoom en la forma de la distribución de Seguidores de Spotify en un mes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8ED484F-489A-3879-78C0-8B51B7D45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43" y="2152969"/>
            <a:ext cx="10206446" cy="350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28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C0080-6B5F-EE1B-3724-0D5B1B701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55A9276-A4FB-0BE1-A32D-8917B45FDDB8}"/>
              </a:ext>
            </a:extLst>
          </p:cNvPr>
          <p:cNvSpPr/>
          <p:nvPr/>
        </p:nvSpPr>
        <p:spPr>
          <a:xfrm>
            <a:off x="8630216" y="0"/>
            <a:ext cx="3561784" cy="6858000"/>
          </a:xfrm>
          <a:prstGeom prst="rect">
            <a:avLst/>
          </a:prstGeom>
          <a:blipFill dpi="0" rotWithShape="1">
            <a:blip r:embed="rId3">
              <a:alphaModFix amt="16000"/>
            </a:blip>
            <a:srcRect/>
            <a:stretch>
              <a:fillRect l="1" r="-3662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6E2F313-BDE4-7183-D85F-565E32735E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Interpolación de muestras perdidas*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0E5640-4885-CE61-1626-1F303FF0B0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8682"/>
            <a:ext cx="9635459" cy="370594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8CD3921-BCAB-931A-A4FA-E7B3B687AAC3}"/>
              </a:ext>
            </a:extLst>
          </p:cNvPr>
          <p:cNvSpPr txBox="1"/>
          <p:nvPr/>
        </p:nvSpPr>
        <p:spPr>
          <a:xfrm>
            <a:off x="838200" y="6211377"/>
            <a:ext cx="69426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*Después de Log1p y antes de centrar.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919882-0C00-61E9-CBEF-1F5FB08E7779}"/>
              </a:ext>
            </a:extLst>
          </p:cNvPr>
          <p:cNvSpPr txBox="1"/>
          <p:nvPr/>
        </p:nvSpPr>
        <p:spPr>
          <a:xfrm>
            <a:off x="838200" y="10759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Faltantes: 0,5% de los </a:t>
            </a:r>
            <a:r>
              <a:rPr lang="es-AR" dirty="0" err="1"/>
              <a:t>datapoints</a:t>
            </a:r>
            <a:r>
              <a:rPr lang="es-A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5953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4E15E-9C6B-8AFA-87A3-2731481F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271B9B7-242B-908C-906B-95A3EE3FE832}"/>
              </a:ext>
            </a:extLst>
          </p:cNvPr>
          <p:cNvSpPr/>
          <p:nvPr/>
        </p:nvSpPr>
        <p:spPr>
          <a:xfrm>
            <a:off x="1" y="0"/>
            <a:ext cx="4866290" cy="6858000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C610753-F371-53CE-685B-81DE97FC1C5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Series transformadas para comparar forma y no nivel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2BC2C08-2A38-18A0-4772-EC1DF0DAF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2958"/>
            <a:ext cx="10752083" cy="34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78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4BC4D-7DAD-CD7B-6543-310A2BCFA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CE17961-2118-8BAD-8EA9-81094684DECC}"/>
              </a:ext>
            </a:extLst>
          </p:cNvPr>
          <p:cNvSpPr/>
          <p:nvPr/>
        </p:nvSpPr>
        <p:spPr>
          <a:xfrm>
            <a:off x="7819698" y="0"/>
            <a:ext cx="4866290" cy="6858000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E3CDE6D-F4C2-3B4F-58E5-A0081A335B5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Berlin Sans FB Demi" panose="020E0802020502020306" pitchFamily="34" charset="0"/>
              </a:rPr>
              <a:t>Media móvil: quitar el ruido mensual sin perder la forma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05F05A-B7E6-290B-53C3-878A6C2C6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05614"/>
            <a:ext cx="7977352" cy="448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65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E6E0E-9A2B-CE33-01EA-7079C1F3F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D6D858A-A290-3874-2340-0334075354E3}"/>
              </a:ext>
            </a:extLst>
          </p:cNvPr>
          <p:cNvSpPr/>
          <p:nvPr/>
        </p:nvSpPr>
        <p:spPr>
          <a:xfrm>
            <a:off x="6936830" y="0"/>
            <a:ext cx="5255170" cy="6858000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 t="-15648" b="-2370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716981A-F708-5D7B-3E7A-419DB1CEE3A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Trayectorias son ondas lentas y rápidas.</a:t>
            </a:r>
          </a:p>
          <a:p>
            <a:r>
              <a:rPr lang="es-ES" b="1" dirty="0"/>
              <a:t>Filtros para suavizar.</a:t>
            </a:r>
            <a:endParaRPr lang="es-AR" dirty="0">
              <a:latin typeface="Berlin Sans FB Demi" panose="020E0802020502020306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60AA384-C6D8-6C63-D62F-07B13AF779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75126"/>
            <a:ext cx="4497653" cy="29984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E45B90D-76AC-D321-B792-860EE92E5E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671" y="2775126"/>
            <a:ext cx="5996872" cy="299843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A3BE2FA-A9DE-1C56-39AA-0728101EB688}"/>
              </a:ext>
            </a:extLst>
          </p:cNvPr>
          <p:cNvSpPr txBox="1"/>
          <p:nvPr/>
        </p:nvSpPr>
        <p:spPr>
          <a:xfrm>
            <a:off x="1008993" y="5871949"/>
            <a:ext cx="4326860" cy="73866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s-AR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400" b="0" i="0" u="none" strike="noStrike" cap="none" normalizeH="0" baseline="0">
                <a:ln>
                  <a:noFill/>
                </a:ln>
                <a:solidFill>
                  <a:srgbClr val="616161"/>
                </a:solidFill>
                <a:effectLst/>
                <a:latin typeface="-apple-system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9pPr>
          </a:lstStyle>
          <a:p>
            <a:r>
              <a:rPr lang="es-ES" dirty="0"/>
              <a:t>Media móvil leída en frecuencia: cuánto deja pasar de cada onda. La de 3 meses conserva los cambios de más de medio año; la de 12, solo la tendencia de años.</a:t>
            </a:r>
            <a:endParaRPr lang="es-AR" dirty="0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47A51CB1-663A-811D-5A11-4CE39B523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344" y="5871949"/>
            <a:ext cx="5727199" cy="73866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400" b="0" i="0" u="none" strike="noStrike" cap="none" normalizeH="0" baseline="0" dirty="0">
                <a:ln>
                  <a:noFill/>
                </a:ln>
                <a:solidFill>
                  <a:srgbClr val="616161"/>
                </a:solidFill>
                <a:effectLst/>
                <a:latin typeface="-apple-system"/>
              </a:rPr>
              <a:t>Pasa-bajos FFT: conserva las 6 ondas más lentas y borra el resto. Funciona solo si antes se quita la tendencia (línea oscura).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57C8BC5C-C77A-9FC6-F517-BB81F2D3538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656082" y="2184296"/>
            <a:ext cx="768831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altLang="es-A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AR" alt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395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7EF375E-99C9-5EA2-85C0-EF7A1D34445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6784"/>
            <a:ext cx="12192000" cy="3810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4657E52-6A5B-A56A-DB49-3E4DF70ADB01}"/>
              </a:ext>
            </a:extLst>
          </p:cNvPr>
          <p:cNvSpPr txBox="1"/>
          <p:nvPr/>
        </p:nvSpPr>
        <p:spPr>
          <a:xfrm>
            <a:off x="5664200" y="2667060"/>
            <a:ext cx="57023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400" dirty="0">
                <a:latin typeface="Berlin Sans FB" panose="020E0602020502020306" pitchFamily="34" charset="0"/>
              </a:rPr>
              <a:t>¿crecimiento sostenido?</a:t>
            </a:r>
          </a:p>
          <a:p>
            <a:r>
              <a:rPr lang="es-AR" sz="3400" dirty="0">
                <a:latin typeface="Berlin Sans FB" panose="020E0602020502020306" pitchFamily="34" charset="0"/>
              </a:rPr>
              <a:t>¿explosión viral y caída?</a:t>
            </a:r>
          </a:p>
          <a:p>
            <a:r>
              <a:rPr lang="es-AR" sz="3400" dirty="0">
                <a:latin typeface="Berlin Sans FB" panose="020E0602020502020306" pitchFamily="34" charset="0"/>
              </a:rPr>
              <a:t>¿estabilidad?</a:t>
            </a:r>
          </a:p>
          <a:p>
            <a:r>
              <a:rPr lang="es-AR" sz="3400" dirty="0">
                <a:latin typeface="Berlin Sans FB" panose="020E0602020502020306" pitchFamily="34" charset="0"/>
              </a:rPr>
              <a:t>¿crecimiento simultáneo multiplataforma?</a:t>
            </a:r>
          </a:p>
          <a:p>
            <a:r>
              <a:rPr lang="es-AR" sz="3400" dirty="0">
                <a:latin typeface="Berlin Sans FB" panose="020E0602020502020306" pitchFamily="34" charset="0"/>
              </a:rPr>
              <a:t>¿estancamiento?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1B02B8E-6CE4-A9DC-F013-DD711D68E4C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¿Veremos perfiles sistemáticos a pesar de la aleatoriedad estructural del sector?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DBB456D-0A88-C21A-FF9E-9D860B06EA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229612"/>
            <a:ext cx="3860800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67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E6EA8-A1D2-F95F-A20C-02B1E480D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7A67C34-6C19-6F57-B900-0A6521337DCD}"/>
              </a:ext>
            </a:extLst>
          </p:cNvPr>
          <p:cNvSpPr txBox="1">
            <a:spLocks/>
          </p:cNvSpPr>
          <p:nvPr/>
        </p:nvSpPr>
        <p:spPr>
          <a:xfrm>
            <a:off x="990599" y="517525"/>
            <a:ext cx="8542284" cy="880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Anexo: Análisis de cobertura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0BF485-0C1E-C656-AF9F-DB527B231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1542393"/>
            <a:ext cx="9091448" cy="454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50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6D2A7-1D53-523A-7F00-877D29E4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E1CF9D8B-280F-9659-5B11-D17A443F1550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675546"/>
          <a:ext cx="3446892" cy="55069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46892">
                  <a:extLst>
                    <a:ext uri="{9D8B030D-6E8A-4147-A177-3AD203B41FA5}">
                      <a16:colId xmlns:a16="http://schemas.microsoft.com/office/drawing/2014/main" val="529416746"/>
                    </a:ext>
                  </a:extLst>
                </a:gridCol>
              </a:tblGrid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Redes sociales: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937613"/>
                  </a:ext>
                </a:extLst>
              </a:tr>
              <a:tr h="217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6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instagram</a:t>
                      </a: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6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followers</a:t>
                      </a: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x</a:t>
                      </a:r>
                      <a:endParaRPr lang="es-AR" sz="16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590698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tiktok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followers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81877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tiktok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likes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896597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twitter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followers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164102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twitter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retweets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39713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644616"/>
                  </a:ext>
                </a:extLst>
              </a:tr>
              <a:tr h="1710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Streaming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: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13061"/>
                  </a:ext>
                </a:extLst>
              </a:tr>
              <a:tr h="217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6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spotify</a:t>
                      </a: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6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followers</a:t>
                      </a: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x</a:t>
                      </a:r>
                      <a:endParaRPr lang="es-AR" sz="16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4945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spotify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followers_to_listeners_ratio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515054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spotify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listeners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025925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spotify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popularity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653485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032550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YouTube: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516514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youtube_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artist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daily_views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683078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youtube_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artist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monthly_views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574526"/>
                  </a:ext>
                </a:extLst>
              </a:tr>
              <a:tr h="217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youtube_</a:t>
                      </a:r>
                      <a:r>
                        <a:rPr lang="es-AR" sz="16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channel</a:t>
                      </a: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6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subscribers</a:t>
                      </a: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x</a:t>
                      </a:r>
                      <a:endParaRPr lang="es-AR" sz="16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651649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youtube_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channel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__videos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239806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youtube_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channel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views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568467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078264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Playlists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: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440116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amazon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ed_playlist_count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156201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amazon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playlist_count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138369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spotify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ed_playlist_count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526146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spotify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ed_playlist_total_reach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3861"/>
                  </a:ext>
                </a:extLst>
              </a:tr>
              <a:tr h="217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6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spotify</a:t>
                      </a: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6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playlist_count</a:t>
                      </a: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x</a:t>
                      </a:r>
                      <a:endParaRPr lang="es-AR" sz="16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791713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spotify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playlist_total_reach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974965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youtube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ed_playlist_count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002923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youtube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ed_playlist_total_reach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276424"/>
                  </a:ext>
                </a:extLst>
              </a:tr>
              <a:tr h="217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6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youtube</a:t>
                      </a: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60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playlist_count</a:t>
                      </a:r>
                      <a:r>
                        <a:rPr lang="es-AR" sz="160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 x</a:t>
                      </a:r>
                      <a:endParaRPr lang="es-AR" sz="160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707330"/>
                  </a:ext>
                </a:extLst>
              </a:tr>
              <a:tr h="1505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youtube</a:t>
                      </a:r>
                      <a:r>
                        <a:rPr lang="es-AR" sz="1050" kern="100" dirty="0">
                          <a:solidFill>
                            <a:sysClr val="windowText" lastClr="000000"/>
                          </a:solidFill>
                          <a:effectLst/>
                        </a:rPr>
                        <a:t>__</a:t>
                      </a:r>
                      <a:r>
                        <a:rPr lang="es-AR" sz="1050" kern="100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playlist_total_reach</a:t>
                      </a:r>
                      <a:endParaRPr lang="es-AR" sz="1050" kern="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46" marR="56146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510815"/>
                  </a:ext>
                </a:extLst>
              </a:tr>
            </a:tbl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7C27C8A0-C099-CD58-0247-4BF83885495B}"/>
              </a:ext>
            </a:extLst>
          </p:cNvPr>
          <p:cNvSpPr txBox="1">
            <a:spLocks/>
          </p:cNvSpPr>
          <p:nvPr/>
        </p:nvSpPr>
        <p:spPr>
          <a:xfrm>
            <a:off x="990599" y="517525"/>
            <a:ext cx="3522133" cy="5476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Berlin Sans FB Demi" panose="020E0802020502020306" pitchFamily="34" charset="0"/>
              </a:rPr>
              <a:t>Anexo:</a:t>
            </a:r>
          </a:p>
          <a:p>
            <a:endParaRPr lang="es-AR" dirty="0">
              <a:latin typeface="Berlin Sans FB Demi" panose="020E0802020502020306" pitchFamily="34" charset="0"/>
            </a:endParaRPr>
          </a:p>
          <a:p>
            <a:r>
              <a:rPr lang="es-AR" dirty="0">
                <a:latin typeface="Berlin Sans FB Demi" panose="020E0802020502020306" pitchFamily="34" charset="0"/>
              </a:rPr>
              <a:t>5 atributos </a:t>
            </a:r>
          </a:p>
          <a:p>
            <a:r>
              <a:rPr lang="es-AR" dirty="0">
                <a:latin typeface="Berlin Sans FB Demi" panose="020E0802020502020306" pitchFamily="34" charset="0"/>
              </a:rPr>
              <a:t>seleccionados </a:t>
            </a:r>
          </a:p>
          <a:p>
            <a:r>
              <a:rPr lang="es-AR" dirty="0">
                <a:latin typeface="Berlin Sans FB Demi" panose="020E0802020502020306" pitchFamily="34" charset="0"/>
              </a:rPr>
              <a:t>sobre 25 </a:t>
            </a:r>
          </a:p>
          <a:p>
            <a:r>
              <a:rPr lang="es-AR" dirty="0">
                <a:latin typeface="Berlin Sans FB Demi" panose="020E0802020502020306" pitchFamily="34" charset="0"/>
              </a:rPr>
              <a:t>disponibles</a:t>
            </a:r>
          </a:p>
        </p:txBody>
      </p:sp>
    </p:spTree>
    <p:extLst>
      <p:ext uri="{BB962C8B-B14F-4D97-AF65-F5344CB8AC3E}">
        <p14:creationId xmlns:p14="http://schemas.microsoft.com/office/powerpoint/2010/main" val="23185044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1010</Words>
  <Application>Microsoft Office PowerPoint</Application>
  <PresentationFormat>Panorámica</PresentationFormat>
  <Paragraphs>147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-apple-system</vt:lpstr>
      <vt:lpstr>Arial</vt:lpstr>
      <vt:lpstr>Berlin Sans FB</vt:lpstr>
      <vt:lpstr>Berlin Sans FB Demi</vt:lpstr>
      <vt:lpstr>Calibri</vt:lpstr>
      <vt:lpstr>Calibri Light</vt:lpstr>
      <vt:lpstr>Tema de Office</vt:lpstr>
      <vt:lpstr>Presentación de PowerPoint</vt:lpstr>
      <vt:lpstr>¿Existen perfiles digitales diferenciados en la trayectoria temporal de los artistas musicales que se puedan identificar a partir del análisis conjunto de métricas de streaming y redes sociales?</vt:lpstr>
      <vt:lpstr>1000 artistas, 49 meses, 5 variables*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Silvana Contreras</dc:creator>
  <cp:lastModifiedBy>Silvana Contreras</cp:lastModifiedBy>
  <cp:revision>28</cp:revision>
  <dcterms:created xsi:type="dcterms:W3CDTF">2026-10-01T18:26:54Z</dcterms:created>
  <dcterms:modified xsi:type="dcterms:W3CDTF">2026-10-05T21:24:40Z</dcterms:modified>
</cp:coreProperties>
</file>